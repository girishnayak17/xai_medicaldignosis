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6"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AF764DC-927D-F464-4CB6-5495D04A44FC}">
          <p14:sldIdLst>
            <p14:sldId id="256"/>
          </p14:sldIdLst>
        </p14:section>
        <p14:section name="Problem and Survey" id="{CA193197-91BA-CACE-BA31-B331B41C2F17}">
          <p14:sldIdLst>
            <p14:sldId id="257"/>
            <p14:sldId id="258"/>
            <p14:sldId id="259"/>
            <p14:sldId id="260"/>
          </p14:sldIdLst>
        </p14:section>
        <p14:section name="Requirements and Design" id="{89A9168E-65B3-0228-525D-3F85A12E8AD5}">
          <p14:sldIdLst>
            <p14:sldId id="261"/>
            <p14:sldId id="262"/>
            <p14:sldId id="263"/>
            <p14:sldId id="264"/>
          </p14:sldIdLst>
        </p14:section>
        <p14:section name="Implementation and Evaluation" id="{9B0D8714-8F49-1EB9-AA35-C8EC38A8ED93}">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91969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is "Explainable Medical Image Diagnosis Using Transfer Learning, Grad-CAM and SHAP". In simple terms, I am building a system that classifies chest X-ray images with a deep learning model and also shows why the model made each prediction. This is my first project review, and I will cover the problem, existing work, requirements, design, methodology and evaluation plan.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defines the problem. Deep learning models such as CNNs can classify chest X-rays well, but they behave like a black box: we get a label but not the reason. A model may be looking at the background or an artifact instead of the lungs, and accuracy alone will not show this. So the problem I am addressing is to build a chest X-ray classifier with transfer learning and use Grad-CAM and SHAP to visualize which image regions drove each prediction.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objectives. First, build a classifier for medical images, with chest X-rays as the main case. Second, use transfer learning with ResNet50, with EfficientNet as an option. Third, prepare the data properly: preprocessing, normalization, augmentation and quality checks. Fourth, add Grad-CAM and SHAP so predictions can be explained. Fifth, analyse those explanations to see whether the model looks at relevant regions. Sixth, evaluate with accuracy, precision, recall, F1-score and a confusion matrix.</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Existing systems already use CNNs and transfer learning models such as ResNet50 and VGG16 for chest X-ray classification, and explainability methods like Grad-CAM and LIME are used to visualize predictions. The table lists four papers I reviewed: a survey on explainable AI for chest X-rays, a CAM-based localization study, a VGG-16 with LIME study, and a VGG16 and ResNet50 comparison for COVID-19 and pneumonia. The inference is that classification should be combined with explainability, instead of relying on performance numbers alone.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survey I identified two gaps. First, shortcut learning: a model can learn background patterns or artifacts and still show high accuracy. Second, explainability is usually shown only as a picture after prediction, rather than used to check whether the model attends to relevant regions. My proposed solution is a transfer learning classifier, Grad-CAM heatmaps, SHAP explanations, and an analysis of those explanations, along with standard evaluation metrics.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Functional requirements describe what the system must do: accept an uploaded image, preprocess it, classify it, show the predicted class with a confidence score, generate Grad-CAM and SHAP explanations, show them together, and evaluate the model with the chosen metrics. Non-functional requirements describe quality: usability through an interactive interface, interpretability through visual explanations, performance, reliability through consistent preprocessing, and maintainability through a modular structure.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high-level architecture: the big blocks and how data flows between them. The user uploads a chest X-ray, preprocessing prepares it, a transfer learning classifier based on ResNet50 predicts the class with a confidence score, and then the explainable AI layer produces two parallel explanations, Grad-CAM for a heatmap and SHAP for feature contributions. Finally, the Streamlit application shows the prediction and explanations together. The detailed steps inside each block are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methodology step by step. Step 1 collects public medical image datasets with chest X-rays as the central case. Step 2 cleans and standardizes images. Step 3 applies medically appropriate augmentation. Step 4 builds the model on pretrained ResNet50, with EfficientNet as an option. Step 5 trains with categorical cross-entropy and the Adam optimizer, using dropout, learning-rate reduction and checkpointing. Step 6 generates Grad-CAM and SHAP explanations, with LIME optionally for comparison. Step 7 analyses the explanations and calculates the metrics. Step 8 deploys everything in a Streamlit app.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table lists the algorithms: a CNN with ResNet50 transfer learning, EfficientNet as an optional model, Adam as the optimizer, categorical cross-entropy as the loss, Grad-CAM for heatmaps, SHAP for feature contributions and LIME as an optional local explanation. The right table lists the tools: Python, VS Code or Google Colab, TensorFlow and Keras, OpenCV and Pillow, Scikit-learn, Matplotlib, and Streamlit for the interface, using public medical image datasets.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deep learning is useful for medical image classification, but its predictions are hard to interpret. My framework combines transfer learning with Grad-CAM and SHAP, and uses the explanations to examine what the model focuses on and whether it relies on shortcuts. The work will be evaluated with standard metrics and presented in a Streamlit application. Thank you.</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2545"/>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914400"/>
            <a:ext cx="6858000" cy="2468880"/>
          </a:xfrm>
          <a:prstGeom prst="rect">
            <a:avLst/>
          </a:prstGeom>
          <a:noFill/>
          <a:ln/>
        </p:spPr>
        <p:txBody>
          <a:bodyPr wrap="square" rtlCol="0"/>
          <a:lstStyle>
            <a:lvl1pPr marL="0" indent="0">
              <a:buNone/>
              <a:defRPr lang="en-US" sz="3400" b="1" dirty="0">
                <a:solidFill>
                  <a:schemeClr val="bg1"/>
                </a:solidFill>
              </a:defRPr>
            </a:lvl1pPr>
          </a:lstStyle>
          <a:p>
            <a:pPr marL="0" indent="0">
              <a:buNone/>
            </a:pPr>
            <a:endParaRPr lang="en-US" sz="3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rtlCol="0"/>
          <a:lstStyle>
            <a:lvl1pPr marL="0" indent="0">
              <a:buNone/>
              <a:defRPr lang="en-US" sz="3200" b="1" dirty="0">
                <a:solidFill>
                  <a:schemeClr val="tx2"/>
                </a:solidFill>
              </a:defRPr>
            </a:lvl1pPr>
          </a:lstStyle>
          <a:p>
            <a:pPr marL="0" indent="0">
              <a:buNone/>
            </a:pPr>
            <a:endParaRPr lang="en-US" sz="3200" dirty="0"/>
          </a:p>
        </p:txBody>
      </p:sp>
      <p:sp>
        <p:nvSpPr>
          <p:cNvPr id="3" name="Text 0"/>
          <p:cNvSpPr/>
          <p:nvPr/>
        </p:nvSpPr>
        <p:spPr>
          <a:xfrm>
            <a:off x="548640" y="6382512"/>
            <a:ext cx="7315200" cy="274320"/>
          </a:xfrm>
          <a:prstGeom prst="rect">
            <a:avLst/>
          </a:prstGeom>
          <a:noFill/>
          <a:ln/>
        </p:spPr>
        <p:txBody>
          <a:bodyPr wrap="square" lIns="0" tIns="0" rIns="0" bIns="0" rtlCol="0" anchor="ctr"/>
          <a:lstStyle/>
          <a:p>
            <a:pPr marL="0" indent="0">
              <a:buNone/>
            </a:pPr>
            <a:r>
              <a:rPr lang="en-US" sz="1000" dirty="0">
                <a:solidFill>
                  <a:schemeClr val="accent5"/>
                </a:solidFill>
              </a:rPr>
              <a:t>Explainable Medical Image Diagnosis  |  First Project Review</a:t>
            </a:r>
            <a:endParaRPr lang="en-US" sz="1000" dirty="0"/>
          </a:p>
        </p:txBody>
      </p:sp>
      <p:sp>
        <p:nvSpPr>
          <p:cNvPr id="25" name="Slide Number Placeholder 0"/>
          <p:cNvSpPr>
            <a:spLocks noGrp="1"/>
          </p:cNvSpPr>
          <p:nvPr>
            <p:ph type="sldNum" sz="quarter" idx="4294967295"/>
          </p:nvPr>
        </p:nvSpPr>
        <p:spPr>
          <a:xfrm>
            <a:off x="10972800" y="6382512"/>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0B2545"/>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rtlCol="0"/>
          <a:lstStyle>
            <a:lvl1pPr marL="0" indent="0">
              <a:buNone/>
              <a:defRPr lang="en-US" sz="3200" b="1" dirty="0">
                <a:solidFill>
                  <a:schemeClr val="bg1"/>
                </a:solidFill>
              </a:defRPr>
            </a:lvl1pPr>
          </a:lstStyle>
          <a:p>
            <a:pPr marL="0" indent="0">
              <a:buNone/>
            </a:pPr>
            <a:endParaRPr lang="en-US" sz="3200" dirty="0"/>
          </a:p>
        </p:txBody>
      </p:sp>
      <p:sp>
        <p:nvSpPr>
          <p:cNvPr id="3" name="Text 0"/>
          <p:cNvSpPr/>
          <p:nvPr/>
        </p:nvSpPr>
        <p:spPr>
          <a:xfrm>
            <a:off x="548640" y="6382512"/>
            <a:ext cx="7315200" cy="274320"/>
          </a:xfrm>
          <a:prstGeom prst="rect">
            <a:avLst/>
          </a:prstGeom>
          <a:noFill/>
          <a:ln/>
        </p:spPr>
        <p:txBody>
          <a:bodyPr wrap="square" lIns="0" tIns="0" rIns="0" bIns="0" rtlCol="0" anchor="ctr"/>
          <a:lstStyle/>
          <a:p>
            <a:pPr marL="0" indent="0">
              <a:buNone/>
            </a:pPr>
            <a:r>
              <a:rPr lang="en-US" sz="1000" dirty="0">
                <a:solidFill>
                  <a:schemeClr val="accent6"/>
                </a:solidFill>
              </a:rPr>
              <a:t>Explainable Medical Image Diagnosis  |  First Project Review</a:t>
            </a:r>
            <a:endParaRPr lang="en-US" sz="1000" dirty="0"/>
          </a:p>
        </p:txBody>
      </p:sp>
      <p:sp>
        <p:nvSpPr>
          <p:cNvPr id="25" name="Slide Number Placeholder 0"/>
          <p:cNvSpPr>
            <a:spLocks noGrp="1"/>
          </p:cNvSpPr>
          <p:nvPr>
            <p:ph type="sldNum" sz="quarter" idx="4294967295"/>
          </p:nvPr>
        </p:nvSpPr>
        <p:spPr>
          <a:xfrm>
            <a:off x="10972800" y="6382512"/>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382512"/>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914400"/>
            <a:ext cx="6858000" cy="2468880"/>
          </a:xfrm>
          <a:prstGeom prst="rect">
            <a:avLst/>
          </a:prstGeom>
          <a:noFill/>
          <a:ln/>
        </p:spPr>
        <p:txBody>
          <a:bodyPr wrap="square" lIns="0" tIns="0" rIns="0" bIns="0" rtlCol="0" anchor="t"/>
          <a:lstStyle/>
          <a:p>
            <a:pPr marL="0" indent="0">
              <a:buNone/>
            </a:pPr>
            <a:r>
              <a:rPr lang="en-US" sz="3400" b="1" dirty="0">
                <a:solidFill>
                  <a:schemeClr val="bg1"/>
                </a:solidFill>
              </a:rPr>
              <a:t>Explainable Medical Image Diagnosis Using Transfer Learning, Grad-CAM and SHAP</a:t>
            </a:r>
            <a:endParaRPr lang="en-US" sz="3400" dirty="0"/>
          </a:p>
        </p:txBody>
      </p:sp>
      <p:sp>
        <p:nvSpPr>
          <p:cNvPr id="3" name="Text 1"/>
          <p:cNvSpPr txBox="1"/>
          <p:nvPr/>
        </p:nvSpPr>
        <p:spPr>
          <a:xfrm>
            <a:off x="640080" y="3474720"/>
            <a:ext cx="6858000" cy="457200"/>
          </a:xfrm>
          <a:prstGeom prst="rect">
            <a:avLst/>
          </a:prstGeom>
          <a:noFill/>
          <a:ln/>
        </p:spPr>
        <p:txBody>
          <a:bodyPr wrap="square" lIns="0" tIns="0" rIns="0" bIns="0" rtlCol="0" anchor="ctr"/>
          <a:lstStyle/>
          <a:p>
            <a:pPr marL="0" indent="0">
              <a:buNone/>
            </a:pPr>
            <a:r>
              <a:rPr lang="en-US" sz="2200" b="1" dirty="0">
                <a:solidFill>
                  <a:schemeClr val="accent3"/>
                </a:solidFill>
              </a:rPr>
              <a:t>First Project Review</a:t>
            </a:r>
            <a:endParaRPr lang="en-US" sz="2200" dirty="0"/>
          </a:p>
        </p:txBody>
      </p:sp>
      <p:sp>
        <p:nvSpPr>
          <p:cNvPr id="4" name="Text 2"/>
          <p:cNvSpPr txBox="1"/>
          <p:nvPr/>
        </p:nvSpPr>
        <p:spPr>
          <a:xfrm>
            <a:off x="640080" y="4114800"/>
            <a:ext cx="7132320" cy="1554480"/>
          </a:xfrm>
          <a:prstGeom prst="rect">
            <a:avLst/>
          </a:prstGeom>
          <a:noFill/>
          <a:ln/>
        </p:spPr>
        <p:txBody>
          <a:bodyPr wrap="square" lIns="0" tIns="0" rIns="0" bIns="0" rtlCol="0" anchor="t"/>
          <a:lstStyle/>
          <a:p>
            <a:pPr marL="0" indent="0">
              <a:spcAft>
                <a:spcPts val="400"/>
              </a:spcAft>
              <a:buNone/>
            </a:pPr>
            <a:r>
              <a:rPr lang="en-US" sz="1500" dirty="0">
                <a:solidFill>
                  <a:schemeClr val="bg1"/>
                </a:solidFill>
              </a:rPr>
              <a:t>Presented by: Girish Nagaraj Nayak</a:t>
            </a:r>
            <a:endParaRPr lang="en-US" sz="1500" dirty="0"/>
          </a:p>
          <a:p>
            <a:pPr marL="0" indent="0">
              <a:spcAft>
                <a:spcPts val="400"/>
              </a:spcAft>
              <a:buNone/>
            </a:pPr>
            <a:r>
              <a:rPr lang="en-US" sz="1500" dirty="0">
                <a:solidFill>
                  <a:schemeClr val="bg1"/>
                </a:solidFill>
              </a:rPr>
              <a:t>USN: 1RF25MC033</a:t>
            </a:r>
            <a:endParaRPr lang="en-US" sz="1500" dirty="0"/>
          </a:p>
          <a:p>
            <a:pPr marL="0" indent="0">
              <a:spcAft>
                <a:spcPts val="400"/>
              </a:spcAft>
              <a:buNone/>
            </a:pPr>
            <a:r>
              <a:rPr lang="en-US" sz="1500" dirty="0">
                <a:solidFill>
                  <a:schemeClr val="bg1"/>
                </a:solidFill>
              </a:rPr>
              <a:t>Program: Master of Computer Applications (MCA)</a:t>
            </a:r>
            <a:endParaRPr lang="en-US" sz="1500" dirty="0"/>
          </a:p>
          <a:p>
            <a:pPr marL="0" indent="0">
              <a:buNone/>
            </a:pPr>
            <a:r>
              <a:rPr lang="en-US" sz="1500" dirty="0">
                <a:solidFill>
                  <a:schemeClr val="bg1"/>
                </a:solidFill>
              </a:rPr>
              <a:t>Institution: RV Institute of Technology and Management, Bengaluru</a:t>
            </a:r>
            <a:endParaRPr lang="en-US" sz="1500" dirty="0"/>
          </a:p>
        </p:txBody>
      </p:sp>
      <p:sp>
        <p:nvSpPr>
          <p:cNvPr id="5" name="Pipeline panel 1"/>
          <p:cNvSpPr/>
          <p:nvPr/>
        </p:nvSpPr>
        <p:spPr>
          <a:xfrm>
            <a:off x="8229600" y="1188720"/>
            <a:ext cx="3383280" cy="1234440"/>
          </a:xfrm>
          <a:prstGeom prst="roundRect">
            <a:avLst>
              <a:gd name="adj" fmla="val 7407"/>
            </a:avLst>
          </a:prstGeom>
          <a:solidFill>
            <a:schemeClr val="accent4">
              <a:alpha val="35000"/>
            </a:schemeClr>
          </a:solidFill>
          <a:ln/>
        </p:spPr>
        <p:txBody>
          <a:bodyPr/>
          <a:lstStyle/>
          <a:p>
            <a:endParaRPr lang="en-IN"/>
          </a:p>
        </p:txBody>
      </p:sp>
      <p:sp>
        <p:nvSpPr>
          <p:cNvPr id="6" name="Pipeline panel 2"/>
          <p:cNvSpPr/>
          <p:nvPr/>
        </p:nvSpPr>
        <p:spPr>
          <a:xfrm>
            <a:off x="8229600" y="2788920"/>
            <a:ext cx="3383280" cy="1234440"/>
          </a:xfrm>
          <a:prstGeom prst="roundRect">
            <a:avLst>
              <a:gd name="adj" fmla="val 7407"/>
            </a:avLst>
          </a:prstGeom>
          <a:solidFill>
            <a:schemeClr val="accent4">
              <a:alpha val="35000"/>
            </a:schemeClr>
          </a:solidFill>
          <a:ln/>
        </p:spPr>
        <p:txBody>
          <a:bodyPr/>
          <a:lstStyle/>
          <a:p>
            <a:endParaRPr lang="en-IN"/>
          </a:p>
        </p:txBody>
      </p:sp>
      <p:sp>
        <p:nvSpPr>
          <p:cNvPr id="7" name="Pipeline panel 3"/>
          <p:cNvSpPr/>
          <p:nvPr/>
        </p:nvSpPr>
        <p:spPr>
          <a:xfrm>
            <a:off x="8229600" y="4389120"/>
            <a:ext cx="3383280" cy="1234440"/>
          </a:xfrm>
          <a:prstGeom prst="roundRect">
            <a:avLst>
              <a:gd name="adj" fmla="val 7407"/>
            </a:avLst>
          </a:prstGeom>
          <a:solidFill>
            <a:schemeClr val="accent4">
              <a:alpha val="35000"/>
            </a:schemeClr>
          </a:solidFill>
          <a:ln/>
        </p:spPr>
        <p:txBody>
          <a:bodyPr/>
          <a:lstStyle/>
          <a:p>
            <a:endParaRPr lang="en-IN"/>
          </a:p>
        </p:txBody>
      </p:sp>
      <p:pic>
        <p:nvPicPr>
          <p:cNvPr id="8" name="Chest X-ray icon" descr="Chest X-ray"/>
          <p:cNvPicPr>
            <a:picLocks noChangeAspect="1"/>
          </p:cNvPicPr>
          <p:nvPr/>
        </p:nvPicPr>
        <p:blipFill>
          <a:blip r:embed="rId3"/>
          <a:stretch>
            <a:fillRect/>
          </a:stretch>
        </p:blipFill>
        <p:spPr>
          <a:xfrm>
            <a:off x="9628632" y="1280160"/>
            <a:ext cx="585216" cy="585216"/>
          </a:xfrm>
          <a:prstGeom prst="rect">
            <a:avLst/>
          </a:prstGeom>
        </p:spPr>
      </p:pic>
      <p:sp>
        <p:nvSpPr>
          <p:cNvPr id="9" name="Text 6"/>
          <p:cNvSpPr txBox="1"/>
          <p:nvPr/>
        </p:nvSpPr>
        <p:spPr>
          <a:xfrm>
            <a:off x="8229600" y="2011680"/>
            <a:ext cx="3383280" cy="274320"/>
          </a:xfrm>
          <a:prstGeom prst="rect">
            <a:avLst/>
          </a:prstGeom>
          <a:noFill/>
          <a:ln/>
        </p:spPr>
        <p:txBody>
          <a:bodyPr wrap="square" lIns="0" tIns="0" rIns="0" bIns="0" rtlCol="0" anchor="ctr"/>
          <a:lstStyle/>
          <a:p>
            <a:pPr marL="0" indent="0" algn="ctr">
              <a:buNone/>
            </a:pPr>
            <a:r>
              <a:rPr lang="en-US" sz="1200" dirty="0">
                <a:solidFill>
                  <a:schemeClr val="bg1"/>
                </a:solidFill>
              </a:rPr>
              <a:t>Chest X-ray</a:t>
            </a:r>
            <a:endParaRPr lang="en-US" sz="1200" dirty="0"/>
          </a:p>
        </p:txBody>
      </p:sp>
      <p:sp>
        <p:nvSpPr>
          <p:cNvPr id="10" name="Network edge"/>
          <p:cNvSpPr/>
          <p:nvPr/>
        </p:nvSpPr>
        <p:spPr>
          <a:xfrm flipV="1">
            <a:off x="9144000" y="2984373"/>
            <a:ext cx="777240" cy="28575"/>
          </a:xfrm>
          <a:prstGeom prst="line">
            <a:avLst/>
          </a:prstGeom>
          <a:noFill/>
          <a:ln w="9525">
            <a:solidFill>
              <a:schemeClr val="accent3">
                <a:alpha val="55000"/>
              </a:schemeClr>
            </a:solidFill>
            <a:prstDash val="solid"/>
          </a:ln>
        </p:spPr>
        <p:txBody>
          <a:bodyPr/>
          <a:lstStyle/>
          <a:p>
            <a:endParaRPr lang="en-IN"/>
          </a:p>
        </p:txBody>
      </p:sp>
      <p:sp>
        <p:nvSpPr>
          <p:cNvPr id="11" name="Network edge"/>
          <p:cNvSpPr/>
          <p:nvPr/>
        </p:nvSpPr>
        <p:spPr>
          <a:xfrm>
            <a:off x="9144000" y="3012948"/>
            <a:ext cx="777240" cy="142875"/>
          </a:xfrm>
          <a:prstGeom prst="line">
            <a:avLst/>
          </a:prstGeom>
          <a:noFill/>
          <a:ln w="9525">
            <a:solidFill>
              <a:schemeClr val="accent3">
                <a:alpha val="55000"/>
              </a:schemeClr>
            </a:solidFill>
            <a:prstDash val="solid"/>
          </a:ln>
        </p:spPr>
        <p:txBody>
          <a:bodyPr/>
          <a:lstStyle/>
          <a:p>
            <a:endParaRPr lang="en-IN"/>
          </a:p>
        </p:txBody>
      </p:sp>
      <p:sp>
        <p:nvSpPr>
          <p:cNvPr id="12" name="Network edge"/>
          <p:cNvSpPr/>
          <p:nvPr/>
        </p:nvSpPr>
        <p:spPr>
          <a:xfrm>
            <a:off x="9144000" y="3012948"/>
            <a:ext cx="777240" cy="314325"/>
          </a:xfrm>
          <a:prstGeom prst="line">
            <a:avLst/>
          </a:prstGeom>
          <a:noFill/>
          <a:ln w="9525">
            <a:solidFill>
              <a:schemeClr val="accent3">
                <a:alpha val="55000"/>
              </a:schemeClr>
            </a:solidFill>
            <a:prstDash val="solid"/>
          </a:ln>
        </p:spPr>
        <p:txBody>
          <a:bodyPr/>
          <a:lstStyle/>
          <a:p>
            <a:endParaRPr lang="en-IN"/>
          </a:p>
        </p:txBody>
      </p:sp>
      <p:sp>
        <p:nvSpPr>
          <p:cNvPr id="13" name="Network edge"/>
          <p:cNvSpPr/>
          <p:nvPr/>
        </p:nvSpPr>
        <p:spPr>
          <a:xfrm>
            <a:off x="9144000" y="3012948"/>
            <a:ext cx="777240" cy="485775"/>
          </a:xfrm>
          <a:prstGeom prst="line">
            <a:avLst/>
          </a:prstGeom>
          <a:noFill/>
          <a:ln w="9525">
            <a:solidFill>
              <a:schemeClr val="accent3">
                <a:alpha val="55000"/>
              </a:schemeClr>
            </a:solidFill>
            <a:prstDash val="solid"/>
          </a:ln>
        </p:spPr>
        <p:txBody>
          <a:bodyPr/>
          <a:lstStyle/>
          <a:p>
            <a:endParaRPr lang="en-IN"/>
          </a:p>
        </p:txBody>
      </p:sp>
      <p:sp>
        <p:nvSpPr>
          <p:cNvPr id="14" name="Network edge"/>
          <p:cNvSpPr/>
          <p:nvPr/>
        </p:nvSpPr>
        <p:spPr>
          <a:xfrm flipV="1">
            <a:off x="9144000" y="2984373"/>
            <a:ext cx="777240" cy="257175"/>
          </a:xfrm>
          <a:prstGeom prst="line">
            <a:avLst/>
          </a:prstGeom>
          <a:noFill/>
          <a:ln w="9525">
            <a:solidFill>
              <a:schemeClr val="accent3">
                <a:alpha val="55000"/>
              </a:schemeClr>
            </a:solidFill>
            <a:prstDash val="solid"/>
          </a:ln>
        </p:spPr>
        <p:txBody>
          <a:bodyPr/>
          <a:lstStyle/>
          <a:p>
            <a:endParaRPr lang="en-IN"/>
          </a:p>
        </p:txBody>
      </p:sp>
      <p:sp>
        <p:nvSpPr>
          <p:cNvPr id="15" name="Network edge"/>
          <p:cNvSpPr/>
          <p:nvPr/>
        </p:nvSpPr>
        <p:spPr>
          <a:xfrm flipV="1">
            <a:off x="9144000" y="3155823"/>
            <a:ext cx="777240" cy="85725"/>
          </a:xfrm>
          <a:prstGeom prst="line">
            <a:avLst/>
          </a:prstGeom>
          <a:noFill/>
          <a:ln w="9525">
            <a:solidFill>
              <a:schemeClr val="accent3">
                <a:alpha val="55000"/>
              </a:schemeClr>
            </a:solidFill>
            <a:prstDash val="solid"/>
          </a:ln>
        </p:spPr>
        <p:txBody>
          <a:bodyPr/>
          <a:lstStyle/>
          <a:p>
            <a:endParaRPr lang="en-IN"/>
          </a:p>
        </p:txBody>
      </p:sp>
      <p:sp>
        <p:nvSpPr>
          <p:cNvPr id="16" name="Network edge"/>
          <p:cNvSpPr/>
          <p:nvPr/>
        </p:nvSpPr>
        <p:spPr>
          <a:xfrm>
            <a:off x="9144000" y="3241548"/>
            <a:ext cx="777240" cy="85725"/>
          </a:xfrm>
          <a:prstGeom prst="line">
            <a:avLst/>
          </a:prstGeom>
          <a:noFill/>
          <a:ln w="9525">
            <a:solidFill>
              <a:schemeClr val="accent3">
                <a:alpha val="55000"/>
              </a:schemeClr>
            </a:solidFill>
            <a:prstDash val="solid"/>
          </a:ln>
        </p:spPr>
        <p:txBody>
          <a:bodyPr/>
          <a:lstStyle/>
          <a:p>
            <a:endParaRPr lang="en-IN"/>
          </a:p>
        </p:txBody>
      </p:sp>
      <p:sp>
        <p:nvSpPr>
          <p:cNvPr id="17" name="Network edge"/>
          <p:cNvSpPr/>
          <p:nvPr/>
        </p:nvSpPr>
        <p:spPr>
          <a:xfrm>
            <a:off x="9144000" y="3241548"/>
            <a:ext cx="777240" cy="257175"/>
          </a:xfrm>
          <a:prstGeom prst="line">
            <a:avLst/>
          </a:prstGeom>
          <a:noFill/>
          <a:ln w="9525">
            <a:solidFill>
              <a:schemeClr val="accent3">
                <a:alpha val="55000"/>
              </a:schemeClr>
            </a:solidFill>
            <a:prstDash val="solid"/>
          </a:ln>
        </p:spPr>
        <p:txBody>
          <a:bodyPr/>
          <a:lstStyle/>
          <a:p>
            <a:endParaRPr lang="en-IN"/>
          </a:p>
        </p:txBody>
      </p:sp>
      <p:sp>
        <p:nvSpPr>
          <p:cNvPr id="18" name="Network edge"/>
          <p:cNvSpPr/>
          <p:nvPr/>
        </p:nvSpPr>
        <p:spPr>
          <a:xfrm flipV="1">
            <a:off x="9144000" y="2984373"/>
            <a:ext cx="777240" cy="485775"/>
          </a:xfrm>
          <a:prstGeom prst="line">
            <a:avLst/>
          </a:prstGeom>
          <a:noFill/>
          <a:ln w="9525">
            <a:solidFill>
              <a:schemeClr val="accent3">
                <a:alpha val="55000"/>
              </a:schemeClr>
            </a:solidFill>
            <a:prstDash val="solid"/>
          </a:ln>
        </p:spPr>
        <p:txBody>
          <a:bodyPr/>
          <a:lstStyle/>
          <a:p>
            <a:endParaRPr lang="en-IN"/>
          </a:p>
        </p:txBody>
      </p:sp>
      <p:sp>
        <p:nvSpPr>
          <p:cNvPr id="19" name="Network edge"/>
          <p:cNvSpPr/>
          <p:nvPr/>
        </p:nvSpPr>
        <p:spPr>
          <a:xfrm flipV="1">
            <a:off x="9144000" y="3155823"/>
            <a:ext cx="777240" cy="314325"/>
          </a:xfrm>
          <a:prstGeom prst="line">
            <a:avLst/>
          </a:prstGeom>
          <a:noFill/>
          <a:ln w="9525">
            <a:solidFill>
              <a:schemeClr val="accent3">
                <a:alpha val="55000"/>
              </a:schemeClr>
            </a:solidFill>
            <a:prstDash val="solid"/>
          </a:ln>
        </p:spPr>
        <p:txBody>
          <a:bodyPr/>
          <a:lstStyle/>
          <a:p>
            <a:endParaRPr lang="en-IN"/>
          </a:p>
        </p:txBody>
      </p:sp>
      <p:sp>
        <p:nvSpPr>
          <p:cNvPr id="20" name="Network edge"/>
          <p:cNvSpPr/>
          <p:nvPr/>
        </p:nvSpPr>
        <p:spPr>
          <a:xfrm flipV="1">
            <a:off x="9144000" y="3327273"/>
            <a:ext cx="777240" cy="142875"/>
          </a:xfrm>
          <a:prstGeom prst="line">
            <a:avLst/>
          </a:prstGeom>
          <a:noFill/>
          <a:ln w="9525">
            <a:solidFill>
              <a:schemeClr val="accent3">
                <a:alpha val="55000"/>
              </a:schemeClr>
            </a:solidFill>
            <a:prstDash val="solid"/>
          </a:ln>
        </p:spPr>
        <p:txBody>
          <a:bodyPr/>
          <a:lstStyle/>
          <a:p>
            <a:endParaRPr lang="en-IN"/>
          </a:p>
        </p:txBody>
      </p:sp>
      <p:sp>
        <p:nvSpPr>
          <p:cNvPr id="21" name="Network edge"/>
          <p:cNvSpPr/>
          <p:nvPr/>
        </p:nvSpPr>
        <p:spPr>
          <a:xfrm>
            <a:off x="9144000" y="3470148"/>
            <a:ext cx="777240" cy="28575"/>
          </a:xfrm>
          <a:prstGeom prst="line">
            <a:avLst/>
          </a:prstGeom>
          <a:noFill/>
          <a:ln w="9525">
            <a:solidFill>
              <a:schemeClr val="accent3">
                <a:alpha val="55000"/>
              </a:schemeClr>
            </a:solidFill>
            <a:prstDash val="solid"/>
          </a:ln>
        </p:spPr>
        <p:txBody>
          <a:bodyPr/>
          <a:lstStyle/>
          <a:p>
            <a:endParaRPr lang="en-IN"/>
          </a:p>
        </p:txBody>
      </p:sp>
      <p:sp>
        <p:nvSpPr>
          <p:cNvPr id="22" name="Network edge"/>
          <p:cNvSpPr/>
          <p:nvPr/>
        </p:nvSpPr>
        <p:spPr>
          <a:xfrm>
            <a:off x="9921240" y="2984373"/>
            <a:ext cx="777240" cy="28575"/>
          </a:xfrm>
          <a:prstGeom prst="line">
            <a:avLst/>
          </a:prstGeom>
          <a:noFill/>
          <a:ln w="9525">
            <a:solidFill>
              <a:schemeClr val="accent3">
                <a:alpha val="55000"/>
              </a:schemeClr>
            </a:solidFill>
            <a:prstDash val="solid"/>
          </a:ln>
        </p:spPr>
        <p:txBody>
          <a:bodyPr/>
          <a:lstStyle/>
          <a:p>
            <a:endParaRPr lang="en-IN"/>
          </a:p>
        </p:txBody>
      </p:sp>
      <p:sp>
        <p:nvSpPr>
          <p:cNvPr id="23" name="Network edge"/>
          <p:cNvSpPr/>
          <p:nvPr/>
        </p:nvSpPr>
        <p:spPr>
          <a:xfrm>
            <a:off x="9921240" y="2984373"/>
            <a:ext cx="777240" cy="257175"/>
          </a:xfrm>
          <a:prstGeom prst="line">
            <a:avLst/>
          </a:prstGeom>
          <a:noFill/>
          <a:ln w="9525">
            <a:solidFill>
              <a:schemeClr val="accent3">
                <a:alpha val="55000"/>
              </a:schemeClr>
            </a:solidFill>
            <a:prstDash val="solid"/>
          </a:ln>
        </p:spPr>
        <p:txBody>
          <a:bodyPr/>
          <a:lstStyle/>
          <a:p>
            <a:endParaRPr lang="en-IN"/>
          </a:p>
        </p:txBody>
      </p:sp>
      <p:sp>
        <p:nvSpPr>
          <p:cNvPr id="24" name="Network edge"/>
          <p:cNvSpPr/>
          <p:nvPr/>
        </p:nvSpPr>
        <p:spPr>
          <a:xfrm>
            <a:off x="9921240" y="2984373"/>
            <a:ext cx="777240" cy="485775"/>
          </a:xfrm>
          <a:prstGeom prst="line">
            <a:avLst/>
          </a:prstGeom>
          <a:noFill/>
          <a:ln w="9525">
            <a:solidFill>
              <a:schemeClr val="accent3">
                <a:alpha val="55000"/>
              </a:schemeClr>
            </a:solidFill>
            <a:prstDash val="solid"/>
          </a:ln>
        </p:spPr>
        <p:txBody>
          <a:bodyPr/>
          <a:lstStyle/>
          <a:p>
            <a:endParaRPr lang="en-IN"/>
          </a:p>
        </p:txBody>
      </p:sp>
      <p:sp>
        <p:nvSpPr>
          <p:cNvPr id="25" name="Network edge"/>
          <p:cNvSpPr/>
          <p:nvPr/>
        </p:nvSpPr>
        <p:spPr>
          <a:xfrm flipV="1">
            <a:off x="9921240" y="3012948"/>
            <a:ext cx="777240" cy="142875"/>
          </a:xfrm>
          <a:prstGeom prst="line">
            <a:avLst/>
          </a:prstGeom>
          <a:noFill/>
          <a:ln w="9525">
            <a:solidFill>
              <a:schemeClr val="accent3">
                <a:alpha val="55000"/>
              </a:schemeClr>
            </a:solidFill>
            <a:prstDash val="solid"/>
          </a:ln>
        </p:spPr>
        <p:txBody>
          <a:bodyPr/>
          <a:lstStyle/>
          <a:p>
            <a:endParaRPr lang="en-IN"/>
          </a:p>
        </p:txBody>
      </p:sp>
      <p:sp>
        <p:nvSpPr>
          <p:cNvPr id="26" name="Network edge"/>
          <p:cNvSpPr/>
          <p:nvPr/>
        </p:nvSpPr>
        <p:spPr>
          <a:xfrm>
            <a:off x="9921240" y="3155823"/>
            <a:ext cx="777240" cy="85725"/>
          </a:xfrm>
          <a:prstGeom prst="line">
            <a:avLst/>
          </a:prstGeom>
          <a:noFill/>
          <a:ln w="9525">
            <a:solidFill>
              <a:schemeClr val="accent3">
                <a:alpha val="55000"/>
              </a:schemeClr>
            </a:solidFill>
            <a:prstDash val="solid"/>
          </a:ln>
        </p:spPr>
        <p:txBody>
          <a:bodyPr/>
          <a:lstStyle/>
          <a:p>
            <a:endParaRPr lang="en-IN"/>
          </a:p>
        </p:txBody>
      </p:sp>
      <p:sp>
        <p:nvSpPr>
          <p:cNvPr id="27" name="Network edge"/>
          <p:cNvSpPr/>
          <p:nvPr/>
        </p:nvSpPr>
        <p:spPr>
          <a:xfrm>
            <a:off x="9921240" y="3155823"/>
            <a:ext cx="777240" cy="314325"/>
          </a:xfrm>
          <a:prstGeom prst="line">
            <a:avLst/>
          </a:prstGeom>
          <a:noFill/>
          <a:ln w="9525">
            <a:solidFill>
              <a:schemeClr val="accent3">
                <a:alpha val="55000"/>
              </a:schemeClr>
            </a:solidFill>
            <a:prstDash val="solid"/>
          </a:ln>
        </p:spPr>
        <p:txBody>
          <a:bodyPr/>
          <a:lstStyle/>
          <a:p>
            <a:endParaRPr lang="en-IN"/>
          </a:p>
        </p:txBody>
      </p:sp>
      <p:sp>
        <p:nvSpPr>
          <p:cNvPr id="28" name="Network edge"/>
          <p:cNvSpPr/>
          <p:nvPr/>
        </p:nvSpPr>
        <p:spPr>
          <a:xfrm flipV="1">
            <a:off x="9921240" y="3012948"/>
            <a:ext cx="777240" cy="314325"/>
          </a:xfrm>
          <a:prstGeom prst="line">
            <a:avLst/>
          </a:prstGeom>
          <a:noFill/>
          <a:ln w="9525">
            <a:solidFill>
              <a:schemeClr val="accent3">
                <a:alpha val="55000"/>
              </a:schemeClr>
            </a:solidFill>
            <a:prstDash val="solid"/>
          </a:ln>
        </p:spPr>
        <p:txBody>
          <a:bodyPr/>
          <a:lstStyle/>
          <a:p>
            <a:endParaRPr lang="en-IN"/>
          </a:p>
        </p:txBody>
      </p:sp>
      <p:sp>
        <p:nvSpPr>
          <p:cNvPr id="29" name="Network edge"/>
          <p:cNvSpPr/>
          <p:nvPr/>
        </p:nvSpPr>
        <p:spPr>
          <a:xfrm flipV="1">
            <a:off x="9921240" y="3241548"/>
            <a:ext cx="777240" cy="85725"/>
          </a:xfrm>
          <a:prstGeom prst="line">
            <a:avLst/>
          </a:prstGeom>
          <a:noFill/>
          <a:ln w="9525">
            <a:solidFill>
              <a:schemeClr val="accent3">
                <a:alpha val="55000"/>
              </a:schemeClr>
            </a:solidFill>
            <a:prstDash val="solid"/>
          </a:ln>
        </p:spPr>
        <p:txBody>
          <a:bodyPr/>
          <a:lstStyle/>
          <a:p>
            <a:endParaRPr lang="en-IN"/>
          </a:p>
        </p:txBody>
      </p:sp>
      <p:sp>
        <p:nvSpPr>
          <p:cNvPr id="30" name="Network edge"/>
          <p:cNvSpPr/>
          <p:nvPr/>
        </p:nvSpPr>
        <p:spPr>
          <a:xfrm>
            <a:off x="9921240" y="3327273"/>
            <a:ext cx="777240" cy="142875"/>
          </a:xfrm>
          <a:prstGeom prst="line">
            <a:avLst/>
          </a:prstGeom>
          <a:noFill/>
          <a:ln w="9525">
            <a:solidFill>
              <a:schemeClr val="accent3">
                <a:alpha val="55000"/>
              </a:schemeClr>
            </a:solidFill>
            <a:prstDash val="solid"/>
          </a:ln>
        </p:spPr>
        <p:txBody>
          <a:bodyPr/>
          <a:lstStyle/>
          <a:p>
            <a:endParaRPr lang="en-IN"/>
          </a:p>
        </p:txBody>
      </p:sp>
      <p:sp>
        <p:nvSpPr>
          <p:cNvPr id="31" name="Network edge"/>
          <p:cNvSpPr/>
          <p:nvPr/>
        </p:nvSpPr>
        <p:spPr>
          <a:xfrm flipV="1">
            <a:off x="9921240" y="3012948"/>
            <a:ext cx="777240" cy="485775"/>
          </a:xfrm>
          <a:prstGeom prst="line">
            <a:avLst/>
          </a:prstGeom>
          <a:noFill/>
          <a:ln w="9525">
            <a:solidFill>
              <a:schemeClr val="accent3">
                <a:alpha val="55000"/>
              </a:schemeClr>
            </a:solidFill>
            <a:prstDash val="solid"/>
          </a:ln>
        </p:spPr>
        <p:txBody>
          <a:bodyPr/>
          <a:lstStyle/>
          <a:p>
            <a:endParaRPr lang="en-IN"/>
          </a:p>
        </p:txBody>
      </p:sp>
      <p:sp>
        <p:nvSpPr>
          <p:cNvPr id="32" name="Network edge"/>
          <p:cNvSpPr/>
          <p:nvPr/>
        </p:nvSpPr>
        <p:spPr>
          <a:xfrm flipV="1">
            <a:off x="9921240" y="3241548"/>
            <a:ext cx="777240" cy="257175"/>
          </a:xfrm>
          <a:prstGeom prst="line">
            <a:avLst/>
          </a:prstGeom>
          <a:noFill/>
          <a:ln w="9525">
            <a:solidFill>
              <a:schemeClr val="accent3">
                <a:alpha val="55000"/>
              </a:schemeClr>
            </a:solidFill>
            <a:prstDash val="solid"/>
          </a:ln>
        </p:spPr>
        <p:txBody>
          <a:bodyPr/>
          <a:lstStyle/>
          <a:p>
            <a:endParaRPr lang="en-IN"/>
          </a:p>
        </p:txBody>
      </p:sp>
      <p:sp>
        <p:nvSpPr>
          <p:cNvPr id="33" name="Network edge"/>
          <p:cNvSpPr/>
          <p:nvPr/>
        </p:nvSpPr>
        <p:spPr>
          <a:xfrm flipV="1">
            <a:off x="9921240" y="3470148"/>
            <a:ext cx="777240" cy="28575"/>
          </a:xfrm>
          <a:prstGeom prst="line">
            <a:avLst/>
          </a:prstGeom>
          <a:noFill/>
          <a:ln w="9525">
            <a:solidFill>
              <a:schemeClr val="accent3">
                <a:alpha val="55000"/>
              </a:schemeClr>
            </a:solidFill>
            <a:prstDash val="solid"/>
          </a:ln>
        </p:spPr>
        <p:txBody>
          <a:bodyPr/>
          <a:lstStyle/>
          <a:p>
            <a:endParaRPr lang="en-IN"/>
          </a:p>
        </p:txBody>
      </p:sp>
      <p:sp>
        <p:nvSpPr>
          <p:cNvPr id="34" name="Network node"/>
          <p:cNvSpPr/>
          <p:nvPr/>
        </p:nvSpPr>
        <p:spPr>
          <a:xfrm>
            <a:off x="9079992" y="2948940"/>
            <a:ext cx="128016" cy="128016"/>
          </a:xfrm>
          <a:prstGeom prst="ellipse">
            <a:avLst/>
          </a:prstGeom>
          <a:solidFill>
            <a:schemeClr val="accent3"/>
          </a:solidFill>
          <a:ln/>
        </p:spPr>
        <p:txBody>
          <a:bodyPr/>
          <a:lstStyle/>
          <a:p>
            <a:endParaRPr lang="en-IN"/>
          </a:p>
        </p:txBody>
      </p:sp>
      <p:sp>
        <p:nvSpPr>
          <p:cNvPr id="35" name="Network node"/>
          <p:cNvSpPr/>
          <p:nvPr/>
        </p:nvSpPr>
        <p:spPr>
          <a:xfrm>
            <a:off x="9079992" y="3177540"/>
            <a:ext cx="128016" cy="128016"/>
          </a:xfrm>
          <a:prstGeom prst="ellipse">
            <a:avLst/>
          </a:prstGeom>
          <a:solidFill>
            <a:schemeClr val="accent3"/>
          </a:solidFill>
          <a:ln/>
        </p:spPr>
        <p:txBody>
          <a:bodyPr/>
          <a:lstStyle/>
          <a:p>
            <a:endParaRPr lang="en-IN"/>
          </a:p>
        </p:txBody>
      </p:sp>
      <p:sp>
        <p:nvSpPr>
          <p:cNvPr id="36" name="Network node"/>
          <p:cNvSpPr/>
          <p:nvPr/>
        </p:nvSpPr>
        <p:spPr>
          <a:xfrm>
            <a:off x="9079992" y="3406140"/>
            <a:ext cx="128016" cy="128016"/>
          </a:xfrm>
          <a:prstGeom prst="ellipse">
            <a:avLst/>
          </a:prstGeom>
          <a:solidFill>
            <a:schemeClr val="accent3"/>
          </a:solidFill>
          <a:ln/>
        </p:spPr>
        <p:txBody>
          <a:bodyPr/>
          <a:lstStyle/>
          <a:p>
            <a:endParaRPr lang="en-IN"/>
          </a:p>
        </p:txBody>
      </p:sp>
      <p:sp>
        <p:nvSpPr>
          <p:cNvPr id="37" name="Network node"/>
          <p:cNvSpPr/>
          <p:nvPr/>
        </p:nvSpPr>
        <p:spPr>
          <a:xfrm>
            <a:off x="9857232" y="2920365"/>
            <a:ext cx="128016" cy="128016"/>
          </a:xfrm>
          <a:prstGeom prst="ellipse">
            <a:avLst/>
          </a:prstGeom>
          <a:solidFill>
            <a:schemeClr val="accent3"/>
          </a:solidFill>
          <a:ln/>
        </p:spPr>
        <p:txBody>
          <a:bodyPr/>
          <a:lstStyle/>
          <a:p>
            <a:endParaRPr lang="en-IN"/>
          </a:p>
        </p:txBody>
      </p:sp>
      <p:sp>
        <p:nvSpPr>
          <p:cNvPr id="38" name="Network node"/>
          <p:cNvSpPr/>
          <p:nvPr/>
        </p:nvSpPr>
        <p:spPr>
          <a:xfrm>
            <a:off x="9857232" y="3091815"/>
            <a:ext cx="128016" cy="128016"/>
          </a:xfrm>
          <a:prstGeom prst="ellipse">
            <a:avLst/>
          </a:prstGeom>
          <a:solidFill>
            <a:schemeClr val="accent3"/>
          </a:solidFill>
          <a:ln/>
        </p:spPr>
        <p:txBody>
          <a:bodyPr/>
          <a:lstStyle/>
          <a:p>
            <a:endParaRPr lang="en-IN"/>
          </a:p>
        </p:txBody>
      </p:sp>
      <p:sp>
        <p:nvSpPr>
          <p:cNvPr id="39" name="Network node"/>
          <p:cNvSpPr/>
          <p:nvPr/>
        </p:nvSpPr>
        <p:spPr>
          <a:xfrm>
            <a:off x="9857232" y="3263265"/>
            <a:ext cx="128016" cy="128016"/>
          </a:xfrm>
          <a:prstGeom prst="ellipse">
            <a:avLst/>
          </a:prstGeom>
          <a:solidFill>
            <a:schemeClr val="accent3"/>
          </a:solidFill>
          <a:ln/>
        </p:spPr>
        <p:txBody>
          <a:bodyPr/>
          <a:lstStyle/>
          <a:p>
            <a:endParaRPr lang="en-IN"/>
          </a:p>
        </p:txBody>
      </p:sp>
      <p:sp>
        <p:nvSpPr>
          <p:cNvPr id="40" name="Network node"/>
          <p:cNvSpPr/>
          <p:nvPr/>
        </p:nvSpPr>
        <p:spPr>
          <a:xfrm>
            <a:off x="9857232" y="3434715"/>
            <a:ext cx="128016" cy="128016"/>
          </a:xfrm>
          <a:prstGeom prst="ellipse">
            <a:avLst/>
          </a:prstGeom>
          <a:solidFill>
            <a:schemeClr val="accent3"/>
          </a:solidFill>
          <a:ln/>
        </p:spPr>
        <p:txBody>
          <a:bodyPr/>
          <a:lstStyle/>
          <a:p>
            <a:endParaRPr lang="en-IN"/>
          </a:p>
        </p:txBody>
      </p:sp>
      <p:sp>
        <p:nvSpPr>
          <p:cNvPr id="41" name="Network node"/>
          <p:cNvSpPr/>
          <p:nvPr/>
        </p:nvSpPr>
        <p:spPr>
          <a:xfrm>
            <a:off x="10634472" y="2948940"/>
            <a:ext cx="128016" cy="128016"/>
          </a:xfrm>
          <a:prstGeom prst="ellipse">
            <a:avLst/>
          </a:prstGeom>
          <a:solidFill>
            <a:schemeClr val="accent3"/>
          </a:solidFill>
          <a:ln/>
        </p:spPr>
        <p:txBody>
          <a:bodyPr/>
          <a:lstStyle/>
          <a:p>
            <a:endParaRPr lang="en-IN"/>
          </a:p>
        </p:txBody>
      </p:sp>
      <p:sp>
        <p:nvSpPr>
          <p:cNvPr id="42" name="Network node"/>
          <p:cNvSpPr/>
          <p:nvPr/>
        </p:nvSpPr>
        <p:spPr>
          <a:xfrm>
            <a:off x="10634472" y="3177540"/>
            <a:ext cx="128016" cy="128016"/>
          </a:xfrm>
          <a:prstGeom prst="ellipse">
            <a:avLst/>
          </a:prstGeom>
          <a:solidFill>
            <a:schemeClr val="accent3"/>
          </a:solidFill>
          <a:ln/>
        </p:spPr>
        <p:txBody>
          <a:bodyPr/>
          <a:lstStyle/>
          <a:p>
            <a:endParaRPr lang="en-IN"/>
          </a:p>
        </p:txBody>
      </p:sp>
      <p:sp>
        <p:nvSpPr>
          <p:cNvPr id="43" name="Network node"/>
          <p:cNvSpPr/>
          <p:nvPr/>
        </p:nvSpPr>
        <p:spPr>
          <a:xfrm>
            <a:off x="10634472" y="3406140"/>
            <a:ext cx="128016" cy="128016"/>
          </a:xfrm>
          <a:prstGeom prst="ellipse">
            <a:avLst/>
          </a:prstGeom>
          <a:solidFill>
            <a:schemeClr val="accent3"/>
          </a:solidFill>
          <a:ln/>
        </p:spPr>
        <p:txBody>
          <a:bodyPr/>
          <a:lstStyle/>
          <a:p>
            <a:endParaRPr lang="en-IN"/>
          </a:p>
        </p:txBody>
      </p:sp>
      <p:sp>
        <p:nvSpPr>
          <p:cNvPr id="44" name="Text 41"/>
          <p:cNvSpPr txBox="1"/>
          <p:nvPr/>
        </p:nvSpPr>
        <p:spPr>
          <a:xfrm>
            <a:off x="8229600" y="3657600"/>
            <a:ext cx="3383280" cy="274320"/>
          </a:xfrm>
          <a:prstGeom prst="rect">
            <a:avLst/>
          </a:prstGeom>
          <a:noFill/>
          <a:ln/>
        </p:spPr>
        <p:txBody>
          <a:bodyPr wrap="square" lIns="0" tIns="0" rIns="0" bIns="0" rtlCol="0" anchor="ctr"/>
          <a:lstStyle/>
          <a:p>
            <a:pPr marL="0" indent="0" algn="ctr">
              <a:buNone/>
            </a:pPr>
            <a:r>
              <a:rPr lang="en-US" sz="1200" dirty="0">
                <a:solidFill>
                  <a:schemeClr val="bg1"/>
                </a:solidFill>
              </a:rPr>
              <a:t>Transfer-learning CNN</a:t>
            </a:r>
            <a:endParaRPr lang="en-US" sz="1200" dirty="0"/>
          </a:p>
        </p:txBody>
      </p:sp>
      <p:pic>
        <p:nvPicPr>
          <p:cNvPr id="45" name="Heatmap base" descr="Lung outline"/>
          <p:cNvPicPr>
            <a:picLocks noChangeAspect="1"/>
          </p:cNvPicPr>
          <p:nvPr/>
        </p:nvPicPr>
        <p:blipFill>
          <a:blip r:embed="rId3">
            <a:alphaModFix amt="35000"/>
          </a:blip>
          <a:stretch>
            <a:fillRect/>
          </a:stretch>
        </p:blipFill>
        <p:spPr>
          <a:xfrm>
            <a:off x="9555480" y="4443984"/>
            <a:ext cx="731520" cy="731520"/>
          </a:xfrm>
          <a:prstGeom prst="rect">
            <a:avLst/>
          </a:prstGeom>
        </p:spPr>
      </p:pic>
      <p:sp>
        <p:nvSpPr>
          <p:cNvPr id="46" name="Heatmap blob"/>
          <p:cNvSpPr/>
          <p:nvPr/>
        </p:nvSpPr>
        <p:spPr>
          <a:xfrm>
            <a:off x="9464040" y="4352544"/>
            <a:ext cx="914400" cy="914400"/>
          </a:xfrm>
          <a:prstGeom prst="ellipse">
            <a:avLst/>
          </a:prstGeom>
          <a:solidFill>
            <a:schemeClr val="accent3">
              <a:alpha val="15000"/>
            </a:schemeClr>
          </a:solidFill>
          <a:ln/>
        </p:spPr>
        <p:txBody>
          <a:bodyPr/>
          <a:lstStyle/>
          <a:p>
            <a:endParaRPr lang="en-IN"/>
          </a:p>
        </p:txBody>
      </p:sp>
      <p:sp>
        <p:nvSpPr>
          <p:cNvPr id="47" name="Heatmap blob"/>
          <p:cNvSpPr/>
          <p:nvPr/>
        </p:nvSpPr>
        <p:spPr>
          <a:xfrm>
            <a:off x="9619488" y="4507992"/>
            <a:ext cx="603504" cy="603504"/>
          </a:xfrm>
          <a:prstGeom prst="ellipse">
            <a:avLst/>
          </a:prstGeom>
          <a:solidFill>
            <a:schemeClr val="accent3">
              <a:alpha val="35000"/>
            </a:schemeClr>
          </a:solidFill>
          <a:ln/>
        </p:spPr>
        <p:txBody>
          <a:bodyPr/>
          <a:lstStyle/>
          <a:p>
            <a:endParaRPr lang="en-IN"/>
          </a:p>
        </p:txBody>
      </p:sp>
      <p:sp>
        <p:nvSpPr>
          <p:cNvPr id="48" name="Heatmap blob"/>
          <p:cNvSpPr/>
          <p:nvPr/>
        </p:nvSpPr>
        <p:spPr>
          <a:xfrm>
            <a:off x="9765792" y="4654296"/>
            <a:ext cx="310896" cy="310896"/>
          </a:xfrm>
          <a:prstGeom prst="ellipse">
            <a:avLst/>
          </a:prstGeom>
          <a:solidFill>
            <a:schemeClr val="accent3">
              <a:alpha val="65000"/>
            </a:schemeClr>
          </a:solidFill>
          <a:ln/>
        </p:spPr>
        <p:txBody>
          <a:bodyPr/>
          <a:lstStyle/>
          <a:p>
            <a:endParaRPr lang="en-IN"/>
          </a:p>
        </p:txBody>
      </p:sp>
      <p:sp>
        <p:nvSpPr>
          <p:cNvPr id="49" name="Text 45"/>
          <p:cNvSpPr txBox="1"/>
          <p:nvPr/>
        </p:nvSpPr>
        <p:spPr>
          <a:xfrm>
            <a:off x="8229600" y="5257800"/>
            <a:ext cx="3383280" cy="274320"/>
          </a:xfrm>
          <a:prstGeom prst="rect">
            <a:avLst/>
          </a:prstGeom>
          <a:noFill/>
          <a:ln/>
        </p:spPr>
        <p:txBody>
          <a:bodyPr wrap="square" lIns="0" tIns="0" rIns="0" bIns="0" rtlCol="0" anchor="ctr"/>
          <a:lstStyle/>
          <a:p>
            <a:pPr marL="0" indent="0" algn="ctr">
              <a:buNone/>
            </a:pPr>
            <a:r>
              <a:rPr lang="en-US" sz="1200" dirty="0">
                <a:solidFill>
                  <a:schemeClr val="bg1"/>
                </a:solidFill>
              </a:rPr>
              <a:t>Grad-CAM and SHAP explanation</a:t>
            </a:r>
            <a:endParaRPr lang="en-US" sz="1200" dirty="0"/>
          </a:p>
        </p:txBody>
      </p:sp>
      <p:sp>
        <p:nvSpPr>
          <p:cNvPr id="50" name="Pipeline arrow"/>
          <p:cNvSpPr/>
          <p:nvPr/>
        </p:nvSpPr>
        <p:spPr>
          <a:xfrm>
            <a:off x="9774936" y="2468880"/>
            <a:ext cx="292608" cy="274320"/>
          </a:xfrm>
          <a:prstGeom prst="downArrow">
            <a:avLst/>
          </a:prstGeom>
          <a:solidFill>
            <a:schemeClr val="accent3"/>
          </a:solidFill>
          <a:ln/>
        </p:spPr>
        <p:txBody>
          <a:bodyPr/>
          <a:lstStyle/>
          <a:p>
            <a:endParaRPr lang="en-IN"/>
          </a:p>
        </p:txBody>
      </p:sp>
      <p:sp>
        <p:nvSpPr>
          <p:cNvPr id="51" name="Pipeline arrow"/>
          <p:cNvSpPr/>
          <p:nvPr/>
        </p:nvSpPr>
        <p:spPr>
          <a:xfrm>
            <a:off x="9774936" y="4069080"/>
            <a:ext cx="292608" cy="274320"/>
          </a:xfrm>
          <a:prstGeom prst="downArrow">
            <a:avLst/>
          </a:prstGeom>
          <a:solidFill>
            <a:schemeClr val="accent3"/>
          </a:solidFill>
          <a:ln/>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buNone/>
            </a:pPr>
            <a:r>
              <a:rPr lang="en-US" sz="3200" b="1" dirty="0">
                <a:solidFill>
                  <a:schemeClr val="tx2"/>
                </a:solidFill>
              </a:rPr>
              <a:t>Problem Definition</a:t>
            </a:r>
            <a:endParaRPr lang="en-US" sz="3200" dirty="0"/>
          </a:p>
        </p:txBody>
      </p:sp>
      <p:sp>
        <p:nvSpPr>
          <p:cNvPr id="3" name="Text 1"/>
          <p:cNvSpPr txBox="1"/>
          <p:nvPr/>
        </p:nvSpPr>
        <p:spPr>
          <a:xfrm>
            <a:off x="548640" y="1280160"/>
            <a:ext cx="6766560" cy="365760"/>
          </a:xfrm>
          <a:prstGeom prst="rect">
            <a:avLst/>
          </a:prstGeom>
          <a:noFill/>
          <a:ln/>
        </p:spPr>
        <p:txBody>
          <a:bodyPr wrap="square" lIns="0" tIns="0" rIns="0" bIns="0" rtlCol="0" anchor="ctr"/>
          <a:lstStyle/>
          <a:p>
            <a:pPr marL="0" indent="0">
              <a:buNone/>
            </a:pPr>
            <a:r>
              <a:rPr lang="en-US" sz="1800" b="1" dirty="0">
                <a:solidFill>
                  <a:schemeClr val="accent1"/>
                </a:solidFill>
              </a:rPr>
              <a:t>Problem Statement</a:t>
            </a:r>
            <a:endParaRPr lang="en-US" sz="1800" dirty="0"/>
          </a:p>
        </p:txBody>
      </p:sp>
      <p:sp>
        <p:nvSpPr>
          <p:cNvPr id="4" name="Text 2"/>
          <p:cNvSpPr txBox="1"/>
          <p:nvPr/>
        </p:nvSpPr>
        <p:spPr>
          <a:xfrm>
            <a:off x="548640" y="1737360"/>
            <a:ext cx="6766560" cy="2834640"/>
          </a:xfrm>
          <a:prstGeom prst="rect">
            <a:avLst/>
          </a:prstGeom>
          <a:noFill/>
          <a:ln/>
        </p:spPr>
        <p:txBody>
          <a:bodyPr wrap="square" lIns="0" tIns="0" rIns="0" bIns="0" rtlCol="0" anchor="t"/>
          <a:lstStyle/>
          <a:p>
            <a:pPr marL="203200" indent="-203200">
              <a:spcAft>
                <a:spcPts val="900"/>
              </a:spcAft>
              <a:buSzPct val="100000"/>
              <a:buChar char="•"/>
            </a:pPr>
            <a:r>
              <a:rPr lang="en-US" sz="1400" dirty="0">
                <a:solidFill>
                  <a:schemeClr val="tx1"/>
                </a:solidFill>
              </a:rPr>
              <a:t>Medical image analysis plays an important role in identifying diseases from medical images such as chest X-rays.</a:t>
            </a:r>
            <a:endParaRPr lang="en-US" sz="1400" dirty="0"/>
          </a:p>
          <a:p>
            <a:pPr marL="203200" indent="-203200">
              <a:spcAft>
                <a:spcPts val="900"/>
              </a:spcAft>
              <a:buSzPct val="100000"/>
              <a:buChar char="•"/>
            </a:pPr>
            <a:r>
              <a:rPr lang="en-US" sz="1400" dirty="0">
                <a:solidFill>
                  <a:schemeClr val="tx1"/>
                </a:solidFill>
              </a:rPr>
              <a:t>Deep learning models, particularly Convolutional Neural Networks (CNNs), can perform image classification, but their decision-making processes are often difficult to understand.</a:t>
            </a:r>
            <a:endParaRPr lang="en-US" sz="1400" dirty="0"/>
          </a:p>
          <a:p>
            <a:pPr marL="203200" indent="-203200">
              <a:spcAft>
                <a:spcPts val="900"/>
              </a:spcAft>
              <a:buSzPct val="100000"/>
              <a:buChar char="•"/>
            </a:pPr>
            <a:r>
              <a:rPr lang="en-US" sz="1400" dirty="0">
                <a:solidFill>
                  <a:schemeClr val="tx1"/>
                </a:solidFill>
              </a:rPr>
              <a:t>These models may focus on irrelevant image regions</a:t>
            </a:r>
            <a:r>
              <a:rPr lang="en-US" sz="1400">
                <a:solidFill>
                  <a:schemeClr val="tx1"/>
                </a:solidFill>
              </a:rPr>
              <a:t>, background , </a:t>
            </a:r>
            <a:r>
              <a:rPr lang="en-US" sz="1400" dirty="0">
                <a:solidFill>
                  <a:schemeClr val="tx1"/>
                </a:solidFill>
              </a:rPr>
              <a:t>or other non-clinical features.</a:t>
            </a:r>
            <a:endParaRPr lang="en-US" sz="1400" dirty="0"/>
          </a:p>
          <a:p>
            <a:pPr marL="203200" indent="-203200">
              <a:spcAft>
                <a:spcPts val="900"/>
              </a:spcAft>
              <a:buSzPct val="100000"/>
              <a:buChar char="•"/>
            </a:pPr>
            <a:r>
              <a:rPr lang="en-US" sz="1400" dirty="0">
                <a:solidFill>
                  <a:schemeClr val="tx1"/>
                </a:solidFill>
              </a:rPr>
              <a:t>Conventional classification results alone may not reveal whether the model is focusing on meaningful medical regions.</a:t>
            </a:r>
            <a:endParaRPr lang="en-US" sz="1400" dirty="0"/>
          </a:p>
        </p:txBody>
      </p:sp>
      <p:sp>
        <p:nvSpPr>
          <p:cNvPr id="5" name="Flow box 1"/>
          <p:cNvSpPr/>
          <p:nvPr/>
        </p:nvSpPr>
        <p:spPr>
          <a:xfrm>
            <a:off x="7863840" y="1280160"/>
            <a:ext cx="3776472" cy="868680"/>
          </a:xfrm>
          <a:prstGeom prst="roundRect">
            <a:avLst>
              <a:gd name="adj" fmla="val 10526"/>
            </a:avLst>
          </a:prstGeom>
          <a:solidFill>
            <a:schemeClr val="bg2"/>
          </a:solidFill>
          <a:ln/>
        </p:spPr>
        <p:txBody>
          <a:bodyPr/>
          <a:lstStyle/>
          <a:p>
            <a:endParaRPr lang="en-IN"/>
          </a:p>
        </p:txBody>
      </p:sp>
      <p:sp>
        <p:nvSpPr>
          <p:cNvPr id="6" name="Chest X-ray circle"/>
          <p:cNvSpPr/>
          <p:nvPr/>
        </p:nvSpPr>
        <p:spPr>
          <a:xfrm>
            <a:off x="8046720" y="1463040"/>
            <a:ext cx="502920" cy="502920"/>
          </a:xfrm>
          <a:prstGeom prst="ellipse">
            <a:avLst/>
          </a:prstGeom>
          <a:solidFill>
            <a:schemeClr val="accent1"/>
          </a:solidFill>
          <a:ln/>
        </p:spPr>
        <p:txBody>
          <a:bodyPr/>
          <a:lstStyle/>
          <a:p>
            <a:endParaRPr lang="en-IN"/>
          </a:p>
        </p:txBody>
      </p:sp>
      <p:pic>
        <p:nvPicPr>
          <p:cNvPr id="7" name="Chest X-ray icon" descr="Chest X-ray"/>
          <p:cNvPicPr>
            <a:picLocks noChangeAspect="1"/>
          </p:cNvPicPr>
          <p:nvPr/>
        </p:nvPicPr>
        <p:blipFill>
          <a:blip r:embed="rId3"/>
          <a:stretch>
            <a:fillRect/>
          </a:stretch>
        </p:blipFill>
        <p:spPr>
          <a:xfrm>
            <a:off x="8172450" y="1588770"/>
            <a:ext cx="251460" cy="251460"/>
          </a:xfrm>
          <a:prstGeom prst="rect">
            <a:avLst/>
          </a:prstGeom>
        </p:spPr>
      </p:pic>
      <p:sp>
        <p:nvSpPr>
          <p:cNvPr id="8" name="Text 5"/>
          <p:cNvSpPr txBox="1"/>
          <p:nvPr/>
        </p:nvSpPr>
        <p:spPr>
          <a:xfrm>
            <a:off x="8732520" y="1280160"/>
            <a:ext cx="2770632" cy="868680"/>
          </a:xfrm>
          <a:prstGeom prst="rect">
            <a:avLst/>
          </a:prstGeom>
          <a:noFill/>
          <a:ln/>
        </p:spPr>
        <p:txBody>
          <a:bodyPr wrap="square" lIns="0" tIns="0" rIns="0" bIns="0" rtlCol="0" anchor="ctr"/>
          <a:lstStyle/>
          <a:p>
            <a:pPr marL="0" indent="0">
              <a:buNone/>
            </a:pPr>
            <a:r>
              <a:rPr lang="en-US" sz="1600" b="1" dirty="0">
                <a:solidFill>
                  <a:schemeClr val="tx2"/>
                </a:solidFill>
              </a:rPr>
              <a:t>Chest X-ray</a:t>
            </a:r>
            <a:endParaRPr lang="en-US" sz="1600" dirty="0"/>
          </a:p>
        </p:txBody>
      </p:sp>
      <p:sp>
        <p:nvSpPr>
          <p:cNvPr id="9" name="Flow arrow"/>
          <p:cNvSpPr/>
          <p:nvPr/>
        </p:nvSpPr>
        <p:spPr>
          <a:xfrm>
            <a:off x="9614916" y="2176272"/>
            <a:ext cx="274320" cy="219456"/>
          </a:xfrm>
          <a:prstGeom prst="downArrow">
            <a:avLst/>
          </a:prstGeom>
          <a:solidFill>
            <a:schemeClr val="accent5"/>
          </a:solidFill>
          <a:ln/>
        </p:spPr>
        <p:txBody>
          <a:bodyPr/>
          <a:lstStyle/>
          <a:p>
            <a:endParaRPr lang="en-IN"/>
          </a:p>
        </p:txBody>
      </p:sp>
      <p:sp>
        <p:nvSpPr>
          <p:cNvPr id="10" name="Flow box 2"/>
          <p:cNvSpPr/>
          <p:nvPr/>
        </p:nvSpPr>
        <p:spPr>
          <a:xfrm>
            <a:off x="7863840" y="2423160"/>
            <a:ext cx="3776472" cy="868680"/>
          </a:xfrm>
          <a:prstGeom prst="roundRect">
            <a:avLst>
              <a:gd name="adj" fmla="val 10526"/>
            </a:avLst>
          </a:prstGeom>
          <a:solidFill>
            <a:schemeClr val="tx2"/>
          </a:solidFill>
          <a:ln/>
        </p:spPr>
        <p:txBody>
          <a:bodyPr/>
          <a:lstStyle/>
          <a:p>
            <a:endParaRPr lang="en-IN"/>
          </a:p>
        </p:txBody>
      </p:sp>
      <p:sp>
        <p:nvSpPr>
          <p:cNvPr id="11" name="Black-box prediction circle"/>
          <p:cNvSpPr/>
          <p:nvPr/>
        </p:nvSpPr>
        <p:spPr>
          <a:xfrm>
            <a:off x="8046720" y="2606040"/>
            <a:ext cx="502920" cy="502920"/>
          </a:xfrm>
          <a:prstGeom prst="ellipse">
            <a:avLst/>
          </a:prstGeom>
          <a:solidFill>
            <a:schemeClr val="accent4"/>
          </a:solidFill>
          <a:ln/>
        </p:spPr>
        <p:txBody>
          <a:bodyPr/>
          <a:lstStyle/>
          <a:p>
            <a:endParaRPr lang="en-IN"/>
          </a:p>
        </p:txBody>
      </p:sp>
      <p:pic>
        <p:nvPicPr>
          <p:cNvPr id="12" name="Black-box prediction icon" descr="Black-box prediction"/>
          <p:cNvPicPr>
            <a:picLocks noChangeAspect="1"/>
          </p:cNvPicPr>
          <p:nvPr/>
        </p:nvPicPr>
        <p:blipFill>
          <a:blip r:embed="rId4"/>
          <a:stretch>
            <a:fillRect/>
          </a:stretch>
        </p:blipFill>
        <p:spPr>
          <a:xfrm>
            <a:off x="8172450" y="2731770"/>
            <a:ext cx="251460" cy="251460"/>
          </a:xfrm>
          <a:prstGeom prst="rect">
            <a:avLst/>
          </a:prstGeom>
        </p:spPr>
      </p:pic>
      <p:sp>
        <p:nvSpPr>
          <p:cNvPr id="13" name="Text 9"/>
          <p:cNvSpPr txBox="1"/>
          <p:nvPr/>
        </p:nvSpPr>
        <p:spPr>
          <a:xfrm>
            <a:off x="8732520" y="2423160"/>
            <a:ext cx="2770632" cy="868680"/>
          </a:xfrm>
          <a:prstGeom prst="rect">
            <a:avLst/>
          </a:prstGeom>
          <a:noFill/>
          <a:ln/>
        </p:spPr>
        <p:txBody>
          <a:bodyPr wrap="square" lIns="0" tIns="0" rIns="0" bIns="0" rtlCol="0" anchor="ctr"/>
          <a:lstStyle/>
          <a:p>
            <a:pPr marL="0" indent="0">
              <a:buNone/>
            </a:pPr>
            <a:r>
              <a:rPr lang="en-US" sz="1600" b="1" dirty="0">
                <a:solidFill>
                  <a:schemeClr val="bg1"/>
                </a:solidFill>
              </a:rPr>
              <a:t>Black-box prediction</a:t>
            </a:r>
            <a:endParaRPr lang="en-US" sz="1600" dirty="0"/>
          </a:p>
        </p:txBody>
      </p:sp>
      <p:sp>
        <p:nvSpPr>
          <p:cNvPr id="14" name="Flow arrow"/>
          <p:cNvSpPr/>
          <p:nvPr/>
        </p:nvSpPr>
        <p:spPr>
          <a:xfrm>
            <a:off x="9614916" y="3319272"/>
            <a:ext cx="274320" cy="219456"/>
          </a:xfrm>
          <a:prstGeom prst="downArrow">
            <a:avLst/>
          </a:prstGeom>
          <a:solidFill>
            <a:schemeClr val="accent5"/>
          </a:solidFill>
          <a:ln/>
        </p:spPr>
        <p:txBody>
          <a:bodyPr/>
          <a:lstStyle/>
          <a:p>
            <a:endParaRPr lang="en-IN"/>
          </a:p>
        </p:txBody>
      </p:sp>
      <p:sp>
        <p:nvSpPr>
          <p:cNvPr id="15" name="Flow box 3"/>
          <p:cNvSpPr/>
          <p:nvPr/>
        </p:nvSpPr>
        <p:spPr>
          <a:xfrm>
            <a:off x="7863840" y="3566160"/>
            <a:ext cx="3776472" cy="868680"/>
          </a:xfrm>
          <a:prstGeom prst="roundRect">
            <a:avLst>
              <a:gd name="adj" fmla="val 10526"/>
            </a:avLst>
          </a:prstGeom>
          <a:solidFill>
            <a:schemeClr val="accent1"/>
          </a:solidFill>
          <a:ln/>
        </p:spPr>
        <p:txBody>
          <a:bodyPr/>
          <a:lstStyle/>
          <a:p>
            <a:endParaRPr lang="en-IN"/>
          </a:p>
        </p:txBody>
      </p:sp>
      <p:sp>
        <p:nvSpPr>
          <p:cNvPr id="16" name="Need for explainability circle"/>
          <p:cNvSpPr/>
          <p:nvPr/>
        </p:nvSpPr>
        <p:spPr>
          <a:xfrm>
            <a:off x="8046720" y="3749040"/>
            <a:ext cx="502920" cy="502920"/>
          </a:xfrm>
          <a:prstGeom prst="ellipse">
            <a:avLst/>
          </a:prstGeom>
          <a:solidFill>
            <a:schemeClr val="accent4"/>
          </a:solidFill>
          <a:ln/>
        </p:spPr>
        <p:txBody>
          <a:bodyPr/>
          <a:lstStyle/>
          <a:p>
            <a:endParaRPr lang="en-IN"/>
          </a:p>
        </p:txBody>
      </p:sp>
      <p:pic>
        <p:nvPicPr>
          <p:cNvPr id="17" name="Need for explainability icon" descr="Need for explainability"/>
          <p:cNvPicPr>
            <a:picLocks noChangeAspect="1"/>
          </p:cNvPicPr>
          <p:nvPr/>
        </p:nvPicPr>
        <p:blipFill>
          <a:blip r:embed="rId5"/>
          <a:stretch>
            <a:fillRect/>
          </a:stretch>
        </p:blipFill>
        <p:spPr>
          <a:xfrm>
            <a:off x="8172450" y="3874770"/>
            <a:ext cx="251460" cy="251460"/>
          </a:xfrm>
          <a:prstGeom prst="rect">
            <a:avLst/>
          </a:prstGeom>
        </p:spPr>
      </p:pic>
      <p:sp>
        <p:nvSpPr>
          <p:cNvPr id="18" name="Text 13"/>
          <p:cNvSpPr txBox="1"/>
          <p:nvPr/>
        </p:nvSpPr>
        <p:spPr>
          <a:xfrm>
            <a:off x="8732520" y="3566160"/>
            <a:ext cx="2770632" cy="868680"/>
          </a:xfrm>
          <a:prstGeom prst="rect">
            <a:avLst/>
          </a:prstGeom>
          <a:noFill/>
          <a:ln/>
        </p:spPr>
        <p:txBody>
          <a:bodyPr wrap="square" lIns="0" tIns="0" rIns="0" bIns="0" rtlCol="0" anchor="ctr"/>
          <a:lstStyle/>
          <a:p>
            <a:pPr marL="0" indent="0">
              <a:buNone/>
            </a:pPr>
            <a:r>
              <a:rPr lang="en-US" sz="1600" b="1" dirty="0">
                <a:solidFill>
                  <a:schemeClr val="bg1"/>
                </a:solidFill>
              </a:rPr>
              <a:t>Need for explainability</a:t>
            </a:r>
            <a:endParaRPr lang="en-US" sz="1600" dirty="0"/>
          </a:p>
        </p:txBody>
      </p:sp>
      <p:sp>
        <p:nvSpPr>
          <p:cNvPr id="19" name="Proposed problem panel"/>
          <p:cNvSpPr/>
          <p:nvPr/>
        </p:nvSpPr>
        <p:spPr>
          <a:xfrm>
            <a:off x="548640" y="4709160"/>
            <a:ext cx="11091672" cy="1463040"/>
          </a:xfrm>
          <a:prstGeom prst="roundRect">
            <a:avLst>
              <a:gd name="adj" fmla="val 6250"/>
            </a:avLst>
          </a:prstGeom>
          <a:solidFill>
            <a:schemeClr val="tx2"/>
          </a:solidFill>
          <a:ln/>
        </p:spPr>
        <p:txBody>
          <a:bodyPr/>
          <a:lstStyle/>
          <a:p>
            <a:endParaRPr lang="en-IN"/>
          </a:p>
        </p:txBody>
      </p:sp>
      <p:sp>
        <p:nvSpPr>
          <p:cNvPr id="20" name="Text 15"/>
          <p:cNvSpPr txBox="1"/>
          <p:nvPr/>
        </p:nvSpPr>
        <p:spPr>
          <a:xfrm>
            <a:off x="822960" y="4828032"/>
            <a:ext cx="10515600" cy="365760"/>
          </a:xfrm>
          <a:prstGeom prst="rect">
            <a:avLst/>
          </a:prstGeom>
          <a:noFill/>
          <a:ln/>
        </p:spPr>
        <p:txBody>
          <a:bodyPr wrap="square" lIns="0" tIns="0" rIns="0" bIns="0" rtlCol="0" anchor="ctr"/>
          <a:lstStyle/>
          <a:p>
            <a:pPr marL="0" indent="0">
              <a:buNone/>
            </a:pPr>
            <a:r>
              <a:rPr lang="en-US" sz="1800" b="1" dirty="0">
                <a:solidFill>
                  <a:schemeClr val="accent3"/>
                </a:solidFill>
              </a:rPr>
              <a:t>Proposed Problem</a:t>
            </a:r>
            <a:endParaRPr lang="en-US" sz="1800" dirty="0"/>
          </a:p>
        </p:txBody>
      </p:sp>
      <p:sp>
        <p:nvSpPr>
          <p:cNvPr id="21" name="Text 16"/>
          <p:cNvSpPr txBox="1"/>
          <p:nvPr/>
        </p:nvSpPr>
        <p:spPr>
          <a:xfrm>
            <a:off x="822960" y="5230368"/>
            <a:ext cx="10515600" cy="868680"/>
          </a:xfrm>
          <a:prstGeom prst="rect">
            <a:avLst/>
          </a:prstGeom>
          <a:noFill/>
          <a:ln/>
        </p:spPr>
        <p:txBody>
          <a:bodyPr wrap="square" lIns="0" tIns="0" rIns="0" bIns="0" rtlCol="0" anchor="t"/>
          <a:lstStyle/>
          <a:p>
            <a:pPr marL="0" indent="0">
              <a:buNone/>
            </a:pPr>
            <a:r>
              <a:rPr lang="en-US" sz="1500" dirty="0">
                <a:solidFill>
                  <a:schemeClr val="bg1"/>
                </a:solidFill>
              </a:rPr>
              <a:t>To develop an explainable deep learning framework for chest X-ray image classification using transfer learning and Explainable AI techniques such as Grad-CAM and SHAP, enabling classification and visualization of image regions contributing to predictions.</a:t>
            </a:r>
            <a:endParaRPr lang="en-US" sz="1500" dirty="0"/>
          </a:p>
        </p:txBody>
      </p:sp>
      <p:sp>
        <p:nvSpPr>
          <p:cNvPr id="25" name="Slide Number Placeholder 0"/>
          <p:cNvSpPr>
            <a:spLocks noGrp="1"/>
          </p:cNvSpPr>
          <p:nvPr>
            <p:ph type="sldNum" sz="quarter" idx="4294967295"/>
          </p:nvPr>
        </p:nvSpPr>
        <p:spPr>
          <a:xfrm>
            <a:off x="10972800" y="6382512"/>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buNone/>
            </a:pPr>
            <a:r>
              <a:rPr lang="en-US" sz="3200" b="1" dirty="0">
                <a:solidFill>
                  <a:schemeClr val="tx2"/>
                </a:solidFill>
              </a:rPr>
              <a:t>Objectives</a:t>
            </a:r>
            <a:endParaRPr lang="en-US" sz="3200" dirty="0"/>
          </a:p>
        </p:txBody>
      </p:sp>
      <p:sp>
        <p:nvSpPr>
          <p:cNvPr id="3" name="Objective card 1"/>
          <p:cNvSpPr/>
          <p:nvPr/>
        </p:nvSpPr>
        <p:spPr>
          <a:xfrm>
            <a:off x="548640" y="1325880"/>
            <a:ext cx="3514344" cy="2286000"/>
          </a:xfrm>
          <a:prstGeom prst="roundRect">
            <a:avLst>
              <a:gd name="adj" fmla="val 4000"/>
            </a:avLst>
          </a:prstGeom>
          <a:solidFill>
            <a:schemeClr val="bg2"/>
          </a:solidFill>
          <a:ln/>
        </p:spPr>
        <p:txBody>
          <a:bodyPr/>
          <a:lstStyle/>
          <a:p>
            <a:endParaRPr lang="en-IN"/>
          </a:p>
        </p:txBody>
      </p:sp>
      <p:sp>
        <p:nvSpPr>
          <p:cNvPr id="4" name="Objective 1 circle"/>
          <p:cNvSpPr/>
          <p:nvPr/>
        </p:nvSpPr>
        <p:spPr>
          <a:xfrm>
            <a:off x="777240" y="1554480"/>
            <a:ext cx="566928" cy="566928"/>
          </a:xfrm>
          <a:prstGeom prst="ellipse">
            <a:avLst/>
          </a:prstGeom>
          <a:solidFill>
            <a:schemeClr val="accent1"/>
          </a:solidFill>
          <a:ln/>
        </p:spPr>
        <p:txBody>
          <a:bodyPr/>
          <a:lstStyle/>
          <a:p>
            <a:endParaRPr lang="en-IN"/>
          </a:p>
        </p:txBody>
      </p:sp>
      <p:pic>
        <p:nvPicPr>
          <p:cNvPr id="5" name="Objective 1 icon" descr="Objective 1"/>
          <p:cNvPicPr>
            <a:picLocks noChangeAspect="1"/>
          </p:cNvPicPr>
          <p:nvPr/>
        </p:nvPicPr>
        <p:blipFill>
          <a:blip r:embed="rId3"/>
          <a:stretch>
            <a:fillRect/>
          </a:stretch>
        </p:blipFill>
        <p:spPr>
          <a:xfrm>
            <a:off x="918972" y="1696212"/>
            <a:ext cx="283464" cy="283464"/>
          </a:xfrm>
          <a:prstGeom prst="rect">
            <a:avLst/>
          </a:prstGeom>
        </p:spPr>
      </p:pic>
      <p:sp>
        <p:nvSpPr>
          <p:cNvPr id="6" name="Text 3"/>
          <p:cNvSpPr txBox="1"/>
          <p:nvPr/>
        </p:nvSpPr>
        <p:spPr>
          <a:xfrm>
            <a:off x="1508760" y="1554480"/>
            <a:ext cx="2417064" cy="566928"/>
          </a:xfrm>
          <a:prstGeom prst="rect">
            <a:avLst/>
          </a:prstGeom>
          <a:noFill/>
          <a:ln/>
        </p:spPr>
        <p:txBody>
          <a:bodyPr wrap="square" lIns="0" tIns="0" rIns="0" bIns="0" rtlCol="0" anchor="ctr"/>
          <a:lstStyle/>
          <a:p>
            <a:pPr marL="0" indent="0">
              <a:buNone/>
            </a:pPr>
            <a:r>
              <a:rPr lang="en-US" sz="1700" b="1" dirty="0">
                <a:solidFill>
                  <a:schemeClr val="tx2"/>
                </a:solidFill>
              </a:rPr>
              <a:t>Objective 1</a:t>
            </a:r>
            <a:endParaRPr lang="en-US" sz="1700" dirty="0"/>
          </a:p>
        </p:txBody>
      </p:sp>
      <p:sp>
        <p:nvSpPr>
          <p:cNvPr id="7" name="Text 4"/>
          <p:cNvSpPr txBox="1"/>
          <p:nvPr/>
        </p:nvSpPr>
        <p:spPr>
          <a:xfrm>
            <a:off x="777240" y="2240280"/>
            <a:ext cx="3057144" cy="1280160"/>
          </a:xfrm>
          <a:prstGeom prst="rect">
            <a:avLst/>
          </a:prstGeom>
          <a:noFill/>
          <a:ln/>
        </p:spPr>
        <p:txBody>
          <a:bodyPr wrap="square" lIns="0" tIns="0" rIns="0" bIns="0" rtlCol="0" anchor="t"/>
          <a:lstStyle/>
          <a:p>
            <a:pPr marL="0" indent="0">
              <a:buNone/>
            </a:pPr>
            <a:r>
              <a:rPr lang="en-US" sz="1400" dirty="0">
                <a:solidFill>
                  <a:schemeClr val="tx1"/>
                </a:solidFill>
              </a:rPr>
              <a:t>To develop a deep learning-based system for classification of medical images from organs </a:t>
            </a:r>
            <a:r>
              <a:rPr lang="en-US" sz="1400" dirty="0"/>
              <a:t>(x-ray)</a:t>
            </a:r>
          </a:p>
        </p:txBody>
      </p:sp>
      <p:sp>
        <p:nvSpPr>
          <p:cNvPr id="8" name="Objective card 2"/>
          <p:cNvSpPr/>
          <p:nvPr/>
        </p:nvSpPr>
        <p:spPr>
          <a:xfrm>
            <a:off x="4337304" y="1325880"/>
            <a:ext cx="3514344" cy="2286000"/>
          </a:xfrm>
          <a:prstGeom prst="roundRect">
            <a:avLst>
              <a:gd name="adj" fmla="val 4000"/>
            </a:avLst>
          </a:prstGeom>
          <a:solidFill>
            <a:schemeClr val="bg2"/>
          </a:solidFill>
          <a:ln/>
        </p:spPr>
        <p:txBody>
          <a:bodyPr/>
          <a:lstStyle/>
          <a:p>
            <a:endParaRPr lang="en-IN"/>
          </a:p>
        </p:txBody>
      </p:sp>
      <p:sp>
        <p:nvSpPr>
          <p:cNvPr id="9" name="Objective 2 circle"/>
          <p:cNvSpPr/>
          <p:nvPr/>
        </p:nvSpPr>
        <p:spPr>
          <a:xfrm>
            <a:off x="4565904" y="1554480"/>
            <a:ext cx="566928" cy="566928"/>
          </a:xfrm>
          <a:prstGeom prst="ellipse">
            <a:avLst/>
          </a:prstGeom>
          <a:solidFill>
            <a:schemeClr val="accent1"/>
          </a:solidFill>
          <a:ln/>
        </p:spPr>
        <p:txBody>
          <a:bodyPr/>
          <a:lstStyle/>
          <a:p>
            <a:endParaRPr lang="en-IN"/>
          </a:p>
        </p:txBody>
      </p:sp>
      <p:pic>
        <p:nvPicPr>
          <p:cNvPr id="10" name="Objective 2 icon" descr="Objective 2"/>
          <p:cNvPicPr>
            <a:picLocks noChangeAspect="1"/>
          </p:cNvPicPr>
          <p:nvPr/>
        </p:nvPicPr>
        <p:blipFill>
          <a:blip r:embed="rId4"/>
          <a:stretch>
            <a:fillRect/>
          </a:stretch>
        </p:blipFill>
        <p:spPr>
          <a:xfrm>
            <a:off x="4707636" y="1696212"/>
            <a:ext cx="283464" cy="283464"/>
          </a:xfrm>
          <a:prstGeom prst="rect">
            <a:avLst/>
          </a:prstGeom>
        </p:spPr>
      </p:pic>
      <p:sp>
        <p:nvSpPr>
          <p:cNvPr id="11" name="Text 7"/>
          <p:cNvSpPr txBox="1"/>
          <p:nvPr/>
        </p:nvSpPr>
        <p:spPr>
          <a:xfrm>
            <a:off x="5297424" y="1554480"/>
            <a:ext cx="2417064" cy="566928"/>
          </a:xfrm>
          <a:prstGeom prst="rect">
            <a:avLst/>
          </a:prstGeom>
          <a:noFill/>
          <a:ln/>
        </p:spPr>
        <p:txBody>
          <a:bodyPr wrap="square" lIns="0" tIns="0" rIns="0" bIns="0" rtlCol="0" anchor="ctr"/>
          <a:lstStyle/>
          <a:p>
            <a:pPr marL="0" indent="0">
              <a:buNone/>
            </a:pPr>
            <a:r>
              <a:rPr lang="en-US" sz="1700" b="1" dirty="0">
                <a:solidFill>
                  <a:schemeClr val="tx2"/>
                </a:solidFill>
              </a:rPr>
              <a:t>Objective 2</a:t>
            </a:r>
            <a:endParaRPr lang="en-US" sz="1700" dirty="0"/>
          </a:p>
        </p:txBody>
      </p:sp>
      <p:sp>
        <p:nvSpPr>
          <p:cNvPr id="12" name="Text 8"/>
          <p:cNvSpPr txBox="1"/>
          <p:nvPr/>
        </p:nvSpPr>
        <p:spPr>
          <a:xfrm>
            <a:off x="4565904" y="2240280"/>
            <a:ext cx="3057144" cy="1280160"/>
          </a:xfrm>
          <a:prstGeom prst="rect">
            <a:avLst/>
          </a:prstGeom>
          <a:noFill/>
          <a:ln/>
        </p:spPr>
        <p:txBody>
          <a:bodyPr wrap="square" lIns="0" tIns="0" rIns="0" bIns="0" rtlCol="0" anchor="t"/>
          <a:lstStyle/>
          <a:p>
            <a:pPr marL="0" indent="0">
              <a:buNone/>
            </a:pPr>
            <a:r>
              <a:rPr lang="en-US" sz="1400" dirty="0">
                <a:solidFill>
                  <a:schemeClr val="tx1"/>
                </a:solidFill>
              </a:rPr>
              <a:t>To utilize transfer learning models such as ResNet50  for effective medical image classification.</a:t>
            </a:r>
            <a:endParaRPr lang="en-US" sz="1400" dirty="0"/>
          </a:p>
        </p:txBody>
      </p:sp>
      <p:sp>
        <p:nvSpPr>
          <p:cNvPr id="18" name="Objective card 4"/>
          <p:cNvSpPr/>
          <p:nvPr/>
        </p:nvSpPr>
        <p:spPr>
          <a:xfrm>
            <a:off x="8199742" y="1252728"/>
            <a:ext cx="3514344" cy="2286000"/>
          </a:xfrm>
          <a:prstGeom prst="roundRect">
            <a:avLst>
              <a:gd name="adj" fmla="val 4000"/>
            </a:avLst>
          </a:prstGeom>
          <a:solidFill>
            <a:schemeClr val="bg2"/>
          </a:solidFill>
          <a:ln/>
        </p:spPr>
        <p:txBody>
          <a:bodyPr/>
          <a:lstStyle/>
          <a:p>
            <a:endParaRPr lang="en-IN"/>
          </a:p>
        </p:txBody>
      </p:sp>
      <p:sp>
        <p:nvSpPr>
          <p:cNvPr id="19" name="Objective 4 circle"/>
          <p:cNvSpPr/>
          <p:nvPr/>
        </p:nvSpPr>
        <p:spPr>
          <a:xfrm>
            <a:off x="8428342" y="1481328"/>
            <a:ext cx="566928" cy="566928"/>
          </a:xfrm>
          <a:prstGeom prst="ellipse">
            <a:avLst/>
          </a:prstGeom>
          <a:solidFill>
            <a:schemeClr val="accent1"/>
          </a:solidFill>
          <a:ln/>
        </p:spPr>
        <p:txBody>
          <a:bodyPr/>
          <a:lstStyle/>
          <a:p>
            <a:endParaRPr lang="en-IN"/>
          </a:p>
        </p:txBody>
      </p:sp>
      <p:pic>
        <p:nvPicPr>
          <p:cNvPr id="20" name="Objective 4 icon" descr="Objective 4"/>
          <p:cNvPicPr>
            <a:picLocks noChangeAspect="1"/>
          </p:cNvPicPr>
          <p:nvPr/>
        </p:nvPicPr>
        <p:blipFill>
          <a:blip r:embed="rId5"/>
          <a:stretch>
            <a:fillRect/>
          </a:stretch>
        </p:blipFill>
        <p:spPr>
          <a:xfrm>
            <a:off x="8570074" y="1623060"/>
            <a:ext cx="283464" cy="283464"/>
          </a:xfrm>
          <a:prstGeom prst="rect">
            <a:avLst/>
          </a:prstGeom>
        </p:spPr>
      </p:pic>
      <p:sp>
        <p:nvSpPr>
          <p:cNvPr id="21" name="Text 15"/>
          <p:cNvSpPr txBox="1"/>
          <p:nvPr/>
        </p:nvSpPr>
        <p:spPr>
          <a:xfrm>
            <a:off x="9159862" y="1481328"/>
            <a:ext cx="2417064" cy="566928"/>
          </a:xfrm>
          <a:prstGeom prst="rect">
            <a:avLst/>
          </a:prstGeom>
          <a:noFill/>
          <a:ln/>
        </p:spPr>
        <p:txBody>
          <a:bodyPr wrap="square" lIns="0" tIns="0" rIns="0" bIns="0" rtlCol="0" anchor="ctr"/>
          <a:lstStyle/>
          <a:p>
            <a:pPr marL="0" indent="0">
              <a:buNone/>
            </a:pPr>
            <a:r>
              <a:rPr lang="en-US" sz="1700" b="1" dirty="0">
                <a:solidFill>
                  <a:schemeClr val="tx2"/>
                </a:solidFill>
              </a:rPr>
              <a:t>Objective 3</a:t>
            </a:r>
          </a:p>
        </p:txBody>
      </p:sp>
      <p:sp>
        <p:nvSpPr>
          <p:cNvPr id="22" name="Text 16"/>
          <p:cNvSpPr txBox="1"/>
          <p:nvPr/>
        </p:nvSpPr>
        <p:spPr>
          <a:xfrm>
            <a:off x="8428342" y="2167128"/>
            <a:ext cx="3057144" cy="1280160"/>
          </a:xfrm>
          <a:prstGeom prst="rect">
            <a:avLst/>
          </a:prstGeom>
          <a:noFill/>
          <a:ln/>
        </p:spPr>
        <p:txBody>
          <a:bodyPr wrap="square" lIns="0" tIns="0" rIns="0" bIns="0" rtlCol="0" anchor="t"/>
          <a:lstStyle/>
          <a:p>
            <a:pPr marL="0" indent="0">
              <a:buNone/>
            </a:pPr>
            <a:r>
              <a:rPr lang="en-US" sz="1400" dirty="0">
                <a:solidFill>
                  <a:schemeClr val="tx1"/>
                </a:solidFill>
              </a:rPr>
              <a:t>To integrate Grad-CAM and SHAP to visualize the regions contributing to model predictions.</a:t>
            </a:r>
            <a:endParaRPr lang="en-US" sz="1400" dirty="0"/>
          </a:p>
        </p:txBody>
      </p:sp>
      <p:sp>
        <p:nvSpPr>
          <p:cNvPr id="23" name="Objective card 5"/>
          <p:cNvSpPr/>
          <p:nvPr/>
        </p:nvSpPr>
        <p:spPr>
          <a:xfrm>
            <a:off x="548640" y="3927348"/>
            <a:ext cx="3514344" cy="2286000"/>
          </a:xfrm>
          <a:prstGeom prst="roundRect">
            <a:avLst>
              <a:gd name="adj" fmla="val 4000"/>
            </a:avLst>
          </a:prstGeom>
          <a:solidFill>
            <a:schemeClr val="bg2"/>
          </a:solidFill>
          <a:ln/>
        </p:spPr>
        <p:txBody>
          <a:bodyPr/>
          <a:lstStyle/>
          <a:p>
            <a:endParaRPr lang="en-IN"/>
          </a:p>
        </p:txBody>
      </p:sp>
      <p:sp>
        <p:nvSpPr>
          <p:cNvPr id="24" name="Objective 5 circle"/>
          <p:cNvSpPr/>
          <p:nvPr/>
        </p:nvSpPr>
        <p:spPr>
          <a:xfrm>
            <a:off x="777240" y="4155948"/>
            <a:ext cx="566928" cy="566928"/>
          </a:xfrm>
          <a:prstGeom prst="ellipse">
            <a:avLst/>
          </a:prstGeom>
          <a:solidFill>
            <a:schemeClr val="accent1"/>
          </a:solidFill>
          <a:ln/>
        </p:spPr>
        <p:txBody>
          <a:bodyPr/>
          <a:lstStyle/>
          <a:p>
            <a:endParaRPr lang="en-IN"/>
          </a:p>
        </p:txBody>
      </p:sp>
      <p:pic>
        <p:nvPicPr>
          <p:cNvPr id="25" name="Objective 5 icon" descr="Objective 5"/>
          <p:cNvPicPr>
            <a:picLocks noChangeAspect="1"/>
          </p:cNvPicPr>
          <p:nvPr/>
        </p:nvPicPr>
        <p:blipFill>
          <a:blip r:embed="rId6"/>
          <a:stretch>
            <a:fillRect/>
          </a:stretch>
        </p:blipFill>
        <p:spPr>
          <a:xfrm>
            <a:off x="918972" y="4297680"/>
            <a:ext cx="283464" cy="283464"/>
          </a:xfrm>
          <a:prstGeom prst="rect">
            <a:avLst/>
          </a:prstGeom>
        </p:spPr>
      </p:pic>
      <p:sp>
        <p:nvSpPr>
          <p:cNvPr id="26" name="Text 19"/>
          <p:cNvSpPr txBox="1"/>
          <p:nvPr/>
        </p:nvSpPr>
        <p:spPr>
          <a:xfrm>
            <a:off x="1508760" y="4155948"/>
            <a:ext cx="2417064" cy="566928"/>
          </a:xfrm>
          <a:prstGeom prst="rect">
            <a:avLst/>
          </a:prstGeom>
          <a:noFill/>
          <a:ln/>
        </p:spPr>
        <p:txBody>
          <a:bodyPr wrap="square" lIns="0" tIns="0" rIns="0" bIns="0" rtlCol="0" anchor="ctr"/>
          <a:lstStyle/>
          <a:p>
            <a:pPr marL="0" indent="0">
              <a:buNone/>
            </a:pPr>
            <a:r>
              <a:rPr lang="en-US" sz="1700" b="1" dirty="0">
                <a:solidFill>
                  <a:schemeClr val="tx2"/>
                </a:solidFill>
              </a:rPr>
              <a:t>Objective 4</a:t>
            </a:r>
            <a:endParaRPr lang="en-US" sz="1700" dirty="0"/>
          </a:p>
        </p:txBody>
      </p:sp>
      <p:sp>
        <p:nvSpPr>
          <p:cNvPr id="27" name="Text 20"/>
          <p:cNvSpPr txBox="1"/>
          <p:nvPr/>
        </p:nvSpPr>
        <p:spPr>
          <a:xfrm>
            <a:off x="777240" y="4841748"/>
            <a:ext cx="3057144" cy="1280160"/>
          </a:xfrm>
          <a:prstGeom prst="rect">
            <a:avLst/>
          </a:prstGeom>
          <a:noFill/>
          <a:ln/>
        </p:spPr>
        <p:txBody>
          <a:bodyPr wrap="square" lIns="0" tIns="0" rIns="0" bIns="0" rtlCol="0" anchor="t"/>
          <a:lstStyle/>
          <a:p>
            <a:pPr marL="0" indent="0">
              <a:buNone/>
            </a:pPr>
            <a:r>
              <a:rPr lang="en-US" sz="1400" dirty="0">
                <a:solidFill>
                  <a:schemeClr val="tx1"/>
                </a:solidFill>
              </a:rPr>
              <a:t>To analyze generated explanations and examine whether the model focuses on relevant medical regions rather than irrelevant background features.</a:t>
            </a:r>
            <a:endParaRPr lang="en-US" sz="1400" dirty="0"/>
          </a:p>
        </p:txBody>
      </p:sp>
      <p:sp>
        <p:nvSpPr>
          <p:cNvPr id="28" name="Objective card 6"/>
          <p:cNvSpPr/>
          <p:nvPr/>
        </p:nvSpPr>
        <p:spPr>
          <a:xfrm>
            <a:off x="4338828" y="3927348"/>
            <a:ext cx="3514344" cy="2286000"/>
          </a:xfrm>
          <a:prstGeom prst="roundRect">
            <a:avLst>
              <a:gd name="adj" fmla="val 4000"/>
            </a:avLst>
          </a:prstGeom>
          <a:solidFill>
            <a:schemeClr val="bg2"/>
          </a:solidFill>
          <a:ln/>
        </p:spPr>
        <p:txBody>
          <a:bodyPr/>
          <a:lstStyle/>
          <a:p>
            <a:endParaRPr lang="en-IN"/>
          </a:p>
        </p:txBody>
      </p:sp>
      <p:sp>
        <p:nvSpPr>
          <p:cNvPr id="29" name="Objective 6 circle"/>
          <p:cNvSpPr/>
          <p:nvPr/>
        </p:nvSpPr>
        <p:spPr>
          <a:xfrm>
            <a:off x="4567428" y="4155948"/>
            <a:ext cx="566928" cy="566928"/>
          </a:xfrm>
          <a:prstGeom prst="ellipse">
            <a:avLst/>
          </a:prstGeom>
          <a:solidFill>
            <a:schemeClr val="accent1"/>
          </a:solidFill>
          <a:ln/>
        </p:spPr>
        <p:txBody>
          <a:bodyPr/>
          <a:lstStyle/>
          <a:p>
            <a:endParaRPr lang="en-IN"/>
          </a:p>
        </p:txBody>
      </p:sp>
      <p:pic>
        <p:nvPicPr>
          <p:cNvPr id="30" name="Objective 6 icon" descr="Objective 6"/>
          <p:cNvPicPr>
            <a:picLocks noChangeAspect="1"/>
          </p:cNvPicPr>
          <p:nvPr/>
        </p:nvPicPr>
        <p:blipFill>
          <a:blip r:embed="rId7"/>
          <a:stretch>
            <a:fillRect/>
          </a:stretch>
        </p:blipFill>
        <p:spPr>
          <a:xfrm>
            <a:off x="4709160" y="4297680"/>
            <a:ext cx="283464" cy="283464"/>
          </a:xfrm>
          <a:prstGeom prst="rect">
            <a:avLst/>
          </a:prstGeom>
        </p:spPr>
      </p:pic>
      <p:sp>
        <p:nvSpPr>
          <p:cNvPr id="31" name="Text 23"/>
          <p:cNvSpPr txBox="1"/>
          <p:nvPr/>
        </p:nvSpPr>
        <p:spPr>
          <a:xfrm>
            <a:off x="5298948" y="4155948"/>
            <a:ext cx="2417064" cy="566928"/>
          </a:xfrm>
          <a:prstGeom prst="rect">
            <a:avLst/>
          </a:prstGeom>
          <a:noFill/>
          <a:ln/>
        </p:spPr>
        <p:txBody>
          <a:bodyPr wrap="square" lIns="0" tIns="0" rIns="0" bIns="0" rtlCol="0" anchor="ctr"/>
          <a:lstStyle/>
          <a:p>
            <a:pPr marL="0" indent="0">
              <a:buNone/>
            </a:pPr>
            <a:r>
              <a:rPr lang="en-US" sz="1700" b="1" dirty="0">
                <a:solidFill>
                  <a:schemeClr val="tx2"/>
                </a:solidFill>
              </a:rPr>
              <a:t>Objective 5</a:t>
            </a:r>
            <a:endParaRPr lang="en-US" sz="1700" dirty="0"/>
          </a:p>
        </p:txBody>
      </p:sp>
      <p:sp>
        <p:nvSpPr>
          <p:cNvPr id="32" name="Text 24"/>
          <p:cNvSpPr txBox="1"/>
          <p:nvPr/>
        </p:nvSpPr>
        <p:spPr>
          <a:xfrm>
            <a:off x="4567428" y="4841748"/>
            <a:ext cx="3057144" cy="1280160"/>
          </a:xfrm>
          <a:prstGeom prst="rect">
            <a:avLst/>
          </a:prstGeom>
          <a:noFill/>
          <a:ln/>
        </p:spPr>
        <p:txBody>
          <a:bodyPr wrap="square" lIns="0" tIns="0" rIns="0" bIns="0" rtlCol="0" anchor="t"/>
          <a:lstStyle/>
          <a:p>
            <a:pPr marL="0" indent="0">
              <a:buNone/>
            </a:pPr>
            <a:r>
              <a:rPr lang="en-US" sz="1400" dirty="0">
                <a:solidFill>
                  <a:schemeClr val="tx1"/>
                </a:solidFill>
              </a:rPr>
              <a:t>To evaluate the classification model using Accuracy, Precision, Recall, F1-score, and Confusion Matrix.</a:t>
            </a:r>
            <a:endParaRPr lang="en-US" sz="1400" dirty="0"/>
          </a:p>
        </p:txBody>
      </p:sp>
      <p:sp>
        <p:nvSpPr>
          <p:cNvPr id="33" name="Slide Number Placeholder 0"/>
          <p:cNvSpPr>
            <a:spLocks noGrp="1"/>
          </p:cNvSpPr>
          <p:nvPr>
            <p:ph type="sldNum" sz="quarter" idx="4294967295"/>
          </p:nvPr>
        </p:nvSpPr>
        <p:spPr>
          <a:xfrm>
            <a:off x="10972800" y="6382512"/>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buNone/>
            </a:pPr>
            <a:r>
              <a:rPr lang="en-US" sz="3200" b="1" dirty="0">
                <a:solidFill>
                  <a:schemeClr val="tx2"/>
                </a:solidFill>
              </a:rPr>
              <a:t>Existing System and Literature Survey</a:t>
            </a:r>
            <a:endParaRPr lang="en-US" sz="3200" dirty="0"/>
          </a:p>
        </p:txBody>
      </p:sp>
      <p:sp>
        <p:nvSpPr>
          <p:cNvPr id="3" name="Text 1"/>
          <p:cNvSpPr txBox="1"/>
          <p:nvPr/>
        </p:nvSpPr>
        <p:spPr>
          <a:xfrm>
            <a:off x="548640" y="1280160"/>
            <a:ext cx="4023360" cy="365760"/>
          </a:xfrm>
          <a:prstGeom prst="rect">
            <a:avLst/>
          </a:prstGeom>
          <a:noFill/>
          <a:ln/>
        </p:spPr>
        <p:txBody>
          <a:bodyPr wrap="square" lIns="0" tIns="0" rIns="0" bIns="0" rtlCol="0" anchor="ctr"/>
          <a:lstStyle/>
          <a:p>
            <a:pPr marL="0" indent="0">
              <a:buNone/>
            </a:pPr>
            <a:r>
              <a:rPr lang="en-US" sz="1800" b="1" dirty="0">
                <a:solidFill>
                  <a:schemeClr val="accent1"/>
                </a:solidFill>
              </a:rPr>
              <a:t>Existing System</a:t>
            </a:r>
            <a:endParaRPr lang="en-US" sz="1800" dirty="0"/>
          </a:p>
        </p:txBody>
      </p:sp>
      <p:sp>
        <p:nvSpPr>
          <p:cNvPr id="4" name="Text 2"/>
          <p:cNvSpPr txBox="1"/>
          <p:nvPr/>
        </p:nvSpPr>
        <p:spPr>
          <a:xfrm>
            <a:off x="616380" y="1828800"/>
            <a:ext cx="4023360" cy="3566160"/>
          </a:xfrm>
          <a:prstGeom prst="rect">
            <a:avLst/>
          </a:prstGeom>
          <a:noFill/>
          <a:ln/>
        </p:spPr>
        <p:txBody>
          <a:bodyPr wrap="square" lIns="0" tIns="0" rIns="0" bIns="0" rtlCol="0" anchor="t"/>
          <a:lstStyle/>
          <a:p>
            <a:pPr marL="203200" indent="-203200">
              <a:spcAft>
                <a:spcPts val="900"/>
              </a:spcAft>
              <a:buSzPct val="100000"/>
              <a:buChar char="•"/>
            </a:pPr>
            <a:r>
              <a:rPr lang="en-US" sz="1400" dirty="0">
                <a:solidFill>
                  <a:schemeClr val="tx1"/>
                </a:solidFill>
              </a:rPr>
              <a:t>CNN-based models are used for medical image classification.</a:t>
            </a:r>
            <a:endParaRPr lang="en-US" sz="1400" dirty="0"/>
          </a:p>
          <a:p>
            <a:pPr marL="203200" indent="-203200">
              <a:spcAft>
                <a:spcPts val="900"/>
              </a:spcAft>
              <a:buSzPct val="100000"/>
              <a:buChar char="•"/>
            </a:pPr>
            <a:r>
              <a:rPr lang="en-US" sz="1400" dirty="0">
                <a:solidFill>
                  <a:schemeClr val="tx1"/>
                </a:solidFill>
              </a:rPr>
              <a:t>Transfer learning models such as ResNet50 and VGG16 are explored for chest X-ray classification.</a:t>
            </a:r>
            <a:endParaRPr lang="en-US" sz="1400" dirty="0"/>
          </a:p>
          <a:p>
            <a:pPr marL="203200" indent="-203200">
              <a:spcAft>
                <a:spcPts val="900"/>
              </a:spcAft>
              <a:buSzPct val="100000"/>
              <a:buChar char="•"/>
            </a:pPr>
            <a:r>
              <a:rPr lang="en-US" sz="1400" dirty="0">
                <a:solidFill>
                  <a:schemeClr val="tx1"/>
                </a:solidFill>
              </a:rPr>
              <a:t>Classification metrics alone may not reveal whether a model relies on irrelevant image features.</a:t>
            </a:r>
            <a:endParaRPr lang="en-US" sz="1400" dirty="0"/>
          </a:p>
        </p:txBody>
      </p:sp>
      <p:sp>
        <p:nvSpPr>
          <p:cNvPr id="5" name="Text 3"/>
          <p:cNvSpPr txBox="1"/>
          <p:nvPr/>
        </p:nvSpPr>
        <p:spPr>
          <a:xfrm>
            <a:off x="4846320" y="1280160"/>
            <a:ext cx="6793992" cy="365760"/>
          </a:xfrm>
          <a:prstGeom prst="rect">
            <a:avLst/>
          </a:prstGeom>
          <a:noFill/>
          <a:ln/>
        </p:spPr>
        <p:txBody>
          <a:bodyPr wrap="square" lIns="0" tIns="0" rIns="0" bIns="0" rtlCol="0" anchor="ctr"/>
          <a:lstStyle/>
          <a:p>
            <a:pPr marL="0" indent="0">
              <a:buNone/>
            </a:pPr>
            <a:r>
              <a:rPr lang="en-US" sz="1800" b="1" dirty="0">
                <a:solidFill>
                  <a:schemeClr val="accent1"/>
                </a:solidFill>
              </a:rPr>
              <a:t>Selected Literature from the Reviewed Research</a:t>
            </a:r>
            <a:endParaRPr lang="en-US" sz="1800" dirty="0"/>
          </a:p>
        </p:txBody>
      </p:sp>
      <p:graphicFrame>
        <p:nvGraphicFramePr>
          <p:cNvPr id="6" name="Literature table"/>
          <p:cNvGraphicFramePr>
            <a:graphicFrameLocks noGrp="1"/>
          </p:cNvGraphicFramePr>
          <p:nvPr>
            <p:extLst>
              <p:ext uri="{D42A27DB-BD31-4B8C-83A1-F6EECF244321}">
                <p14:modId xmlns:p14="http://schemas.microsoft.com/office/powerpoint/2010/main" val="1579011935"/>
              </p:ext>
            </p:extLst>
          </p:nvPr>
        </p:nvGraphicFramePr>
        <p:xfrm>
          <a:off x="4846320" y="1737360"/>
          <a:ext cx="6793992" cy="3511296"/>
        </p:xfrm>
        <a:graphic>
          <a:graphicData uri="http://schemas.openxmlformats.org/drawingml/2006/table">
            <a:tbl>
              <a:tblPr/>
              <a:tblGrid>
                <a:gridCol w="3611880">
                  <a:extLst>
                    <a:ext uri="{9D8B030D-6E8A-4147-A177-3AD203B41FA5}">
                      <a16:colId xmlns:a16="http://schemas.microsoft.com/office/drawing/2014/main" val="20000"/>
                    </a:ext>
                  </a:extLst>
                </a:gridCol>
                <a:gridCol w="3182112">
                  <a:extLst>
                    <a:ext uri="{9D8B030D-6E8A-4147-A177-3AD203B41FA5}">
                      <a16:colId xmlns:a16="http://schemas.microsoft.com/office/drawing/2014/main" val="20001"/>
                    </a:ext>
                  </a:extLst>
                </a:gridCol>
              </a:tblGrid>
              <a:tr h="365760">
                <a:tc>
                  <a:txBody>
                    <a:bodyPr/>
                    <a:lstStyle/>
                    <a:p>
                      <a:pPr marL="0" indent="0">
                        <a:buNone/>
                      </a:pPr>
                      <a:r>
                        <a:rPr lang="en-US" sz="1300" b="1" dirty="0">
                          <a:solidFill>
                            <a:srgbClr val="FFFFFF"/>
                          </a:solidFill>
                        </a:rPr>
                        <a:t>Research work</a:t>
                      </a:r>
                      <a:endParaRPr lang="en-US" sz="1300" dirty="0"/>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2545"/>
                    </a:solidFill>
                  </a:tcPr>
                </a:tc>
                <a:tc>
                  <a:txBody>
                    <a:bodyPr/>
                    <a:lstStyle/>
                    <a:p>
                      <a:pPr marL="0" indent="0">
                        <a:buNone/>
                      </a:pPr>
                      <a:r>
                        <a:rPr lang="en-US" sz="1300" b="1" dirty="0">
                          <a:solidFill>
                            <a:srgbClr val="FFFFFF"/>
                          </a:solidFill>
                        </a:rPr>
                        <a:t>Relevant contribution</a:t>
                      </a:r>
                      <a:endParaRPr lang="en-US" sz="1300" dirty="0"/>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786384">
                <a:tc>
                  <a:txBody>
                    <a:bodyPr/>
                    <a:lstStyle/>
                    <a:p>
                      <a:pPr marL="0" indent="0">
                        <a:buNone/>
                      </a:pPr>
                      <a:r>
                        <a:rPr lang="en-US" sz="1200" i="1" dirty="0">
                          <a:solidFill>
                            <a:srgbClr val="1B2A41"/>
                          </a:solidFill>
                        </a:rPr>
                        <a:t>Explainable Artificial Intelligence in Healthcare for Chest X-Ray Analysis and Report Generation: A Survey (2022)</a:t>
                      </a:r>
                      <a:endParaRPr lang="en-US" sz="1200" dirty="0"/>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B2A41"/>
                          </a:solidFill>
                        </a:rPr>
                        <a:t>Reviews explainability approaches for chest X-ray analysis and highlights interpretability challenges.</a:t>
                      </a:r>
                      <a:endParaRPr lang="en-US" sz="1200" dirty="0"/>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86384">
                <a:tc>
                  <a:txBody>
                    <a:bodyPr/>
                    <a:lstStyle/>
                    <a:p>
                      <a:pPr marL="0" indent="0">
                        <a:buNone/>
                      </a:pPr>
                      <a:r>
                        <a:rPr lang="en-US" sz="1200" i="1" dirty="0">
                          <a:solidFill>
                            <a:srgbClr val="1B2A41"/>
                          </a:solidFill>
                        </a:rPr>
                        <a:t>Ensemble-CAM for Effective Thoracic Disease Localization Using Weakly Supervised Learning (2024)</a:t>
                      </a:r>
                      <a:endParaRPr lang="en-US" sz="1200" dirty="0"/>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AF4F6"/>
                    </a:solidFill>
                  </a:tcPr>
                </a:tc>
                <a:tc>
                  <a:txBody>
                    <a:bodyPr/>
                    <a:lstStyle/>
                    <a:p>
                      <a:pPr marL="0" indent="0">
                        <a:buNone/>
                      </a:pPr>
                      <a:r>
                        <a:rPr lang="en-US" sz="1200" dirty="0">
                          <a:solidFill>
                            <a:srgbClr val="1B2A41"/>
                          </a:solidFill>
                        </a:rPr>
                        <a:t>Explores activation-map methods for localizing thoracic disease-related regions.</a:t>
                      </a:r>
                      <a:endParaRPr lang="en-US" sz="1200" dirty="0"/>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AF4F6"/>
                    </a:solidFill>
                  </a:tcPr>
                </a:tc>
                <a:extLst>
                  <a:ext uri="{0D108BD9-81ED-4DB2-BD59-A6C34878D82A}">
                    <a16:rowId xmlns:a16="http://schemas.microsoft.com/office/drawing/2014/main" val="10002"/>
                  </a:ext>
                </a:extLst>
              </a:tr>
              <a:tr h="786384">
                <a:tc>
                  <a:txBody>
                    <a:bodyPr/>
                    <a:lstStyle/>
                    <a:p>
                      <a:pPr marL="0" indent="0">
                        <a:buNone/>
                      </a:pPr>
                      <a:r>
                        <a:rPr lang="en-US" sz="1200" i="1" dirty="0">
                          <a:solidFill>
                            <a:srgbClr val="1B2A41"/>
                          </a:solidFill>
                        </a:rPr>
                        <a:t>An Explainable AI Model for Medical Image Classification Using VGG-16 and LIME Explainer (2023)</a:t>
                      </a:r>
                      <a:endParaRPr lang="en-US" sz="1200" dirty="0"/>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200" dirty="0">
                          <a:solidFill>
                            <a:srgbClr val="1B2A41"/>
                          </a:solidFill>
                        </a:rPr>
                        <a:t>Combines chest radiograph classification with local visual explanations.</a:t>
                      </a:r>
                      <a:endParaRPr lang="en-US" sz="1200" dirty="0"/>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86384">
                <a:tc>
                  <a:txBody>
                    <a:bodyPr/>
                    <a:lstStyle/>
                    <a:p>
                      <a:pPr marL="0" indent="0">
                        <a:buNone/>
                      </a:pPr>
                      <a:r>
                        <a:rPr lang="en-US" sz="1200" i="1" dirty="0">
                          <a:solidFill>
                            <a:srgbClr val="1B2A41"/>
                          </a:solidFill>
                        </a:rPr>
                        <a:t>Automated Detection of COVID-19 and Viral Pneumonia Using Chest X-Ray Images with VGG16 and ResNet50 (2022)</a:t>
                      </a:r>
                      <a:endParaRPr lang="en-US" sz="1200" dirty="0"/>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AF4F6"/>
                    </a:solidFill>
                  </a:tcPr>
                </a:tc>
                <a:tc>
                  <a:txBody>
                    <a:bodyPr/>
                    <a:lstStyle/>
                    <a:p>
                      <a:pPr marL="0" indent="0">
                        <a:buNone/>
                      </a:pPr>
                      <a:r>
                        <a:rPr lang="en-US" sz="1200" dirty="0">
                          <a:solidFill>
                            <a:srgbClr val="1B2A41"/>
                          </a:solidFill>
                        </a:rPr>
                        <a:t>Compares transfer-learning architectures for chest X-ray classification.</a:t>
                      </a:r>
                      <a:endParaRPr lang="en-US" sz="1200" dirty="0"/>
                    </a:p>
                  </a:txBody>
                  <a:tcPr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AF4F6"/>
                    </a:solidFill>
                  </a:tcPr>
                </a:tc>
                <a:extLst>
                  <a:ext uri="{0D108BD9-81ED-4DB2-BD59-A6C34878D82A}">
                    <a16:rowId xmlns:a16="http://schemas.microsoft.com/office/drawing/2014/main" val="10004"/>
                  </a:ext>
                </a:extLst>
              </a:tr>
            </a:tbl>
          </a:graphicData>
        </a:graphic>
      </p:graphicFrame>
      <p:sp>
        <p:nvSpPr>
          <p:cNvPr id="7" name="Inference panel"/>
          <p:cNvSpPr/>
          <p:nvPr/>
        </p:nvSpPr>
        <p:spPr>
          <a:xfrm>
            <a:off x="548640" y="5486400"/>
            <a:ext cx="11091672" cy="749808"/>
          </a:xfrm>
          <a:prstGeom prst="roundRect">
            <a:avLst>
              <a:gd name="adj" fmla="val 12195"/>
            </a:avLst>
          </a:prstGeom>
          <a:solidFill>
            <a:schemeClr val="accent1"/>
          </a:solidFill>
          <a:ln/>
        </p:spPr>
        <p:txBody>
          <a:bodyPr/>
          <a:lstStyle/>
          <a:p>
            <a:endParaRPr lang="en-IN"/>
          </a:p>
        </p:txBody>
      </p:sp>
      <p:sp>
        <p:nvSpPr>
          <p:cNvPr id="8" name="Text 5"/>
          <p:cNvSpPr txBox="1"/>
          <p:nvPr/>
        </p:nvSpPr>
        <p:spPr>
          <a:xfrm>
            <a:off x="777240" y="5486400"/>
            <a:ext cx="10652760" cy="749808"/>
          </a:xfrm>
          <a:prstGeom prst="rect">
            <a:avLst/>
          </a:prstGeom>
          <a:noFill/>
          <a:ln/>
        </p:spPr>
        <p:txBody>
          <a:bodyPr wrap="square" lIns="0" tIns="0" rIns="0" bIns="0" rtlCol="0" anchor="ctr"/>
          <a:lstStyle/>
          <a:p>
            <a:pPr marL="0" indent="0">
              <a:buNone/>
            </a:pPr>
            <a:r>
              <a:rPr lang="en-US" sz="1400" b="1" dirty="0">
                <a:solidFill>
                  <a:schemeClr val="bg1"/>
                </a:solidFill>
              </a:rPr>
              <a:t>Literature Survey Inference: </a:t>
            </a:r>
            <a:r>
              <a:rPr lang="en-US" sz="1400" dirty="0">
                <a:solidFill>
                  <a:schemeClr val="bg1"/>
                </a:solidFill>
              </a:rPr>
              <a:t>The reviewed work supports the need to combine image classification with explainability so that model predictions can be examined, rather than relying only on classification performance.</a:t>
            </a:r>
            <a:endParaRPr lang="en-US" sz="1400" dirty="0"/>
          </a:p>
        </p:txBody>
      </p:sp>
      <p:sp>
        <p:nvSpPr>
          <p:cNvPr id="25" name="Slide Number Placeholder 0"/>
          <p:cNvSpPr>
            <a:spLocks noGrp="1"/>
          </p:cNvSpPr>
          <p:nvPr>
            <p:ph type="sldNum" sz="quarter" idx="4294967295"/>
          </p:nvPr>
        </p:nvSpPr>
        <p:spPr>
          <a:xfrm>
            <a:off x="10972800" y="6382512"/>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buNone/>
            </a:pPr>
            <a:r>
              <a:rPr lang="en-US" sz="3200" b="1" dirty="0">
                <a:solidFill>
                  <a:schemeClr val="tx2"/>
                </a:solidFill>
              </a:rPr>
              <a:t>Research Gaps and Proposed Solution</a:t>
            </a:r>
            <a:endParaRPr lang="en-US" sz="3200" dirty="0"/>
          </a:p>
        </p:txBody>
      </p:sp>
      <p:sp>
        <p:nvSpPr>
          <p:cNvPr id="3" name="Text 1"/>
          <p:cNvSpPr txBox="1"/>
          <p:nvPr/>
        </p:nvSpPr>
        <p:spPr>
          <a:xfrm>
            <a:off x="548640" y="1280160"/>
            <a:ext cx="5212080" cy="365760"/>
          </a:xfrm>
          <a:prstGeom prst="rect">
            <a:avLst/>
          </a:prstGeom>
          <a:noFill/>
          <a:ln/>
        </p:spPr>
        <p:txBody>
          <a:bodyPr wrap="square" lIns="0" tIns="0" rIns="0" bIns="0" rtlCol="0" anchor="ctr"/>
          <a:lstStyle/>
          <a:p>
            <a:pPr marL="0" indent="0">
              <a:buNone/>
            </a:pPr>
            <a:r>
              <a:rPr lang="en-US" sz="1800" b="1" dirty="0">
                <a:solidFill>
                  <a:schemeClr val="accent1"/>
                </a:solidFill>
              </a:rPr>
              <a:t>Identified Research Gaps</a:t>
            </a:r>
            <a:endParaRPr lang="en-US" sz="1800" dirty="0"/>
          </a:p>
        </p:txBody>
      </p:sp>
      <p:sp>
        <p:nvSpPr>
          <p:cNvPr id="4" name="Gap card 1"/>
          <p:cNvSpPr/>
          <p:nvPr/>
        </p:nvSpPr>
        <p:spPr>
          <a:xfrm>
            <a:off x="548640" y="1737360"/>
            <a:ext cx="5212080" cy="1508760"/>
          </a:xfrm>
          <a:prstGeom prst="roundRect">
            <a:avLst>
              <a:gd name="adj" fmla="val 6061"/>
            </a:avLst>
          </a:prstGeom>
          <a:solidFill>
            <a:schemeClr val="bg2"/>
          </a:solidFill>
          <a:ln/>
        </p:spPr>
        <p:txBody>
          <a:bodyPr/>
          <a:lstStyle/>
          <a:p>
            <a:endParaRPr lang="en-IN"/>
          </a:p>
        </p:txBody>
      </p:sp>
      <p:sp>
        <p:nvSpPr>
          <p:cNvPr id="5" name="Text 3"/>
          <p:cNvSpPr txBox="1"/>
          <p:nvPr/>
        </p:nvSpPr>
        <p:spPr>
          <a:xfrm>
            <a:off x="777240" y="1828800"/>
            <a:ext cx="4754880" cy="347472"/>
          </a:xfrm>
          <a:prstGeom prst="rect">
            <a:avLst/>
          </a:prstGeom>
          <a:noFill/>
          <a:ln/>
        </p:spPr>
        <p:txBody>
          <a:bodyPr wrap="square" lIns="0" tIns="0" rIns="0" bIns="0" rtlCol="0" anchor="ctr"/>
          <a:lstStyle/>
          <a:p>
            <a:pPr marL="0" indent="0">
              <a:buNone/>
            </a:pPr>
            <a:r>
              <a:rPr lang="en-US" sz="1500" b="1" dirty="0">
                <a:solidFill>
                  <a:schemeClr val="tx2"/>
                </a:solidFill>
              </a:rPr>
              <a:t>1. Shortcut Learning and Irrelevant Features</a:t>
            </a:r>
            <a:endParaRPr lang="en-US" sz="1500" dirty="0"/>
          </a:p>
        </p:txBody>
      </p:sp>
      <p:sp>
        <p:nvSpPr>
          <p:cNvPr id="6" name="Text 4"/>
          <p:cNvSpPr txBox="1"/>
          <p:nvPr/>
        </p:nvSpPr>
        <p:spPr>
          <a:xfrm>
            <a:off x="777240" y="2240280"/>
            <a:ext cx="4754880" cy="96012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chemeClr val="tx1"/>
                </a:solidFill>
              </a:rPr>
              <a:t>Models may learn background patterns, image borders, artifacts, or other non-clinical features.</a:t>
            </a:r>
            <a:endParaRPr lang="en-US" sz="1400" dirty="0"/>
          </a:p>
          <a:p>
            <a:pPr marL="203200" indent="-203200">
              <a:spcAft>
                <a:spcPts val="400"/>
              </a:spcAft>
              <a:buSzPct val="100000"/>
              <a:buChar char="•"/>
            </a:pPr>
            <a:r>
              <a:rPr lang="en-US" sz="1400" dirty="0">
                <a:solidFill>
                  <a:schemeClr val="tx1"/>
                </a:solidFill>
              </a:rPr>
              <a:t>Accuracy alone may not reveal this problem.</a:t>
            </a:r>
            <a:endParaRPr lang="en-US" sz="1400" dirty="0"/>
          </a:p>
        </p:txBody>
      </p:sp>
      <p:sp>
        <p:nvSpPr>
          <p:cNvPr id="7" name="Gap card 2"/>
          <p:cNvSpPr/>
          <p:nvPr/>
        </p:nvSpPr>
        <p:spPr>
          <a:xfrm>
            <a:off x="548640" y="3383280"/>
            <a:ext cx="5212080" cy="1508760"/>
          </a:xfrm>
          <a:prstGeom prst="roundRect">
            <a:avLst>
              <a:gd name="adj" fmla="val 6061"/>
            </a:avLst>
          </a:prstGeom>
          <a:solidFill>
            <a:schemeClr val="bg2"/>
          </a:solidFill>
          <a:ln/>
        </p:spPr>
        <p:txBody>
          <a:bodyPr/>
          <a:lstStyle/>
          <a:p>
            <a:endParaRPr lang="en-IN"/>
          </a:p>
        </p:txBody>
      </p:sp>
      <p:sp>
        <p:nvSpPr>
          <p:cNvPr id="8" name="Text 6"/>
          <p:cNvSpPr txBox="1"/>
          <p:nvPr/>
        </p:nvSpPr>
        <p:spPr>
          <a:xfrm>
            <a:off x="777240" y="3474720"/>
            <a:ext cx="4754880" cy="347472"/>
          </a:xfrm>
          <a:prstGeom prst="rect">
            <a:avLst/>
          </a:prstGeom>
          <a:noFill/>
          <a:ln/>
        </p:spPr>
        <p:txBody>
          <a:bodyPr wrap="square" lIns="0" tIns="0" rIns="0" bIns="0" rtlCol="0" anchor="ctr"/>
          <a:lstStyle/>
          <a:p>
            <a:pPr marL="0" indent="0">
              <a:buNone/>
            </a:pPr>
            <a:r>
              <a:rPr lang="en-US" sz="1500" b="1" dirty="0">
                <a:solidFill>
                  <a:schemeClr val="tx2"/>
                </a:solidFill>
              </a:rPr>
              <a:t>2. Limited Use of Explainability for Model Verification</a:t>
            </a:r>
            <a:endParaRPr lang="en-US" sz="1500" dirty="0"/>
          </a:p>
        </p:txBody>
      </p:sp>
      <p:sp>
        <p:nvSpPr>
          <p:cNvPr id="9" name="Text 7"/>
          <p:cNvSpPr txBox="1"/>
          <p:nvPr/>
        </p:nvSpPr>
        <p:spPr>
          <a:xfrm>
            <a:off x="777240" y="3886200"/>
            <a:ext cx="4754880" cy="96012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chemeClr val="tx1"/>
                </a:solidFill>
              </a:rPr>
              <a:t>Explainability methods are often used as post-prediction visualizations.</a:t>
            </a:r>
            <a:endParaRPr lang="en-US" sz="1400" dirty="0"/>
          </a:p>
          <a:p>
            <a:pPr marL="203200" indent="-203200">
              <a:spcAft>
                <a:spcPts val="400"/>
              </a:spcAft>
              <a:buSzPct val="100000"/>
              <a:buChar char="•"/>
            </a:pPr>
            <a:r>
              <a:rPr lang="en-US" sz="1400" dirty="0">
                <a:solidFill>
                  <a:schemeClr val="tx1"/>
                </a:solidFill>
              </a:rPr>
              <a:t>There is a need to examine whether model attention corresponds to relevant medical regions.</a:t>
            </a:r>
            <a:endParaRPr lang="en-US" sz="1400" dirty="0"/>
          </a:p>
        </p:txBody>
      </p:sp>
      <p:sp>
        <p:nvSpPr>
          <p:cNvPr id="10" name="Proposed solution panel"/>
          <p:cNvSpPr/>
          <p:nvPr/>
        </p:nvSpPr>
        <p:spPr>
          <a:xfrm>
            <a:off x="6035040" y="1280160"/>
            <a:ext cx="5605272" cy="3611880"/>
          </a:xfrm>
          <a:prstGeom prst="roundRect">
            <a:avLst>
              <a:gd name="adj" fmla="val 2532"/>
            </a:avLst>
          </a:prstGeom>
          <a:solidFill>
            <a:schemeClr val="tx2"/>
          </a:solidFill>
          <a:ln/>
        </p:spPr>
        <p:txBody>
          <a:bodyPr/>
          <a:lstStyle/>
          <a:p>
            <a:endParaRPr lang="en-IN"/>
          </a:p>
        </p:txBody>
      </p:sp>
      <p:sp>
        <p:nvSpPr>
          <p:cNvPr id="11" name="Text 9"/>
          <p:cNvSpPr txBox="1"/>
          <p:nvPr/>
        </p:nvSpPr>
        <p:spPr>
          <a:xfrm>
            <a:off x="6309360" y="1417320"/>
            <a:ext cx="5029200" cy="365760"/>
          </a:xfrm>
          <a:prstGeom prst="rect">
            <a:avLst/>
          </a:prstGeom>
          <a:noFill/>
          <a:ln/>
        </p:spPr>
        <p:txBody>
          <a:bodyPr wrap="square" lIns="0" tIns="0" rIns="0" bIns="0" rtlCol="0" anchor="ctr"/>
          <a:lstStyle/>
          <a:p>
            <a:pPr marL="0" indent="0">
              <a:buNone/>
            </a:pPr>
            <a:r>
              <a:rPr lang="en-US" sz="1800" b="1" dirty="0">
                <a:solidFill>
                  <a:schemeClr val="accent3"/>
                </a:solidFill>
              </a:rPr>
              <a:t>Proposed Solution</a:t>
            </a:r>
            <a:endParaRPr lang="en-US" sz="1800" dirty="0"/>
          </a:p>
        </p:txBody>
      </p:sp>
      <p:sp>
        <p:nvSpPr>
          <p:cNvPr id="12" name="Text 10"/>
          <p:cNvSpPr txBox="1"/>
          <p:nvPr/>
        </p:nvSpPr>
        <p:spPr>
          <a:xfrm>
            <a:off x="6309360" y="1920240"/>
            <a:ext cx="5074920" cy="2834640"/>
          </a:xfrm>
          <a:prstGeom prst="rect">
            <a:avLst/>
          </a:prstGeom>
          <a:noFill/>
          <a:ln/>
        </p:spPr>
        <p:txBody>
          <a:bodyPr wrap="square" lIns="0" tIns="0" rIns="0" bIns="0" rtlCol="0" anchor="t"/>
          <a:lstStyle/>
          <a:p>
            <a:pPr marL="203200" indent="-203200">
              <a:spcAft>
                <a:spcPts val="900"/>
              </a:spcAft>
              <a:buSzPct val="100000"/>
              <a:buChar char="•"/>
            </a:pPr>
            <a:r>
              <a:rPr lang="en-US" sz="1400" dirty="0">
                <a:solidFill>
                  <a:schemeClr val="bg1"/>
                </a:solidFill>
              </a:rPr>
              <a:t>Apply transfer learning for chest X-ray classification.</a:t>
            </a:r>
            <a:endParaRPr lang="en-US" sz="1400" dirty="0"/>
          </a:p>
          <a:p>
            <a:pPr marL="203200" indent="-203200">
              <a:spcAft>
                <a:spcPts val="900"/>
              </a:spcAft>
              <a:buSzPct val="100000"/>
              <a:buChar char="•"/>
            </a:pPr>
            <a:r>
              <a:rPr lang="en-US" sz="1400" dirty="0">
                <a:solidFill>
                  <a:schemeClr val="bg1"/>
                </a:solidFill>
              </a:rPr>
              <a:t>Use Grad-CAM to generate visual heatmaps of influential image regions.</a:t>
            </a:r>
            <a:endParaRPr lang="en-US" sz="1400" dirty="0"/>
          </a:p>
          <a:p>
            <a:pPr marL="203200" indent="-203200">
              <a:spcAft>
                <a:spcPts val="900"/>
              </a:spcAft>
              <a:buSzPct val="100000"/>
              <a:buChar char="•"/>
            </a:pPr>
            <a:r>
              <a:rPr lang="en-US" sz="1400" dirty="0">
                <a:solidFill>
                  <a:schemeClr val="bg1"/>
                </a:solidFill>
              </a:rPr>
              <a:t>Use SHAP to provide feature-contribution explanations.</a:t>
            </a:r>
            <a:endParaRPr lang="en-US" sz="1400" dirty="0"/>
          </a:p>
          <a:p>
            <a:pPr marL="203200" indent="-203200">
              <a:spcAft>
                <a:spcPts val="900"/>
              </a:spcAft>
              <a:buSzPct val="100000"/>
              <a:buChar char="•"/>
            </a:pPr>
            <a:r>
              <a:rPr lang="en-US" sz="1400" dirty="0">
                <a:solidFill>
                  <a:schemeClr val="bg1"/>
                </a:solidFill>
              </a:rPr>
              <a:t>Analyze the explanations to identify possible reliance on irrelevant features.</a:t>
            </a:r>
            <a:endParaRPr lang="en-US" sz="1400" dirty="0"/>
          </a:p>
          <a:p>
            <a:pPr marL="203200" indent="-203200">
              <a:spcAft>
                <a:spcPts val="900"/>
              </a:spcAft>
              <a:buSzPct val="100000"/>
              <a:buChar char="•"/>
            </a:pPr>
            <a:r>
              <a:rPr lang="en-US" sz="1400" dirty="0">
                <a:solidFill>
                  <a:schemeClr val="bg1"/>
                </a:solidFill>
              </a:rPr>
              <a:t>Evaluate classification performance using standard metrics.</a:t>
            </a:r>
            <a:endParaRPr lang="en-US" sz="1400" dirty="0"/>
          </a:p>
        </p:txBody>
      </p:sp>
      <p:sp>
        <p:nvSpPr>
          <p:cNvPr id="13" name="Solution step 1"/>
          <p:cNvSpPr txBox="1"/>
          <p:nvPr/>
        </p:nvSpPr>
        <p:spPr>
          <a:xfrm>
            <a:off x="548640" y="5257800"/>
            <a:ext cx="2377440" cy="868680"/>
          </a:xfrm>
          <a:prstGeom prst="roundRect">
            <a:avLst>
              <a:gd name="adj" fmla="val 10526"/>
            </a:avLst>
          </a:prstGeom>
          <a:solidFill>
            <a:schemeClr val="bg2"/>
          </a:solidFill>
          <a:ln/>
        </p:spPr>
        <p:txBody>
          <a:bodyPr wrap="square" rtlCol="0" anchor="ctr"/>
          <a:lstStyle/>
          <a:p>
            <a:pPr marL="0" indent="0" algn="ctr">
              <a:buNone/>
            </a:pPr>
            <a:r>
              <a:rPr lang="en-US" sz="1500" b="1" dirty="0">
                <a:solidFill>
                  <a:schemeClr val="tx2"/>
                </a:solidFill>
              </a:rPr>
              <a:t>Research gap</a:t>
            </a:r>
            <a:endParaRPr lang="en-US" sz="1500" dirty="0"/>
          </a:p>
        </p:txBody>
      </p:sp>
      <p:sp>
        <p:nvSpPr>
          <p:cNvPr id="14" name="Solution arrow"/>
          <p:cNvSpPr/>
          <p:nvPr/>
        </p:nvSpPr>
        <p:spPr>
          <a:xfrm>
            <a:off x="3008376" y="5559552"/>
            <a:ext cx="365760" cy="274320"/>
          </a:xfrm>
          <a:prstGeom prst="rightArrow">
            <a:avLst/>
          </a:prstGeom>
          <a:solidFill>
            <a:schemeClr val="accent5"/>
          </a:solidFill>
          <a:ln/>
        </p:spPr>
        <p:txBody>
          <a:bodyPr/>
          <a:lstStyle/>
          <a:p>
            <a:endParaRPr lang="en-IN"/>
          </a:p>
        </p:txBody>
      </p:sp>
      <p:sp>
        <p:nvSpPr>
          <p:cNvPr id="15" name="Solution step 2"/>
          <p:cNvSpPr txBox="1"/>
          <p:nvPr/>
        </p:nvSpPr>
        <p:spPr>
          <a:xfrm>
            <a:off x="3456432" y="5257800"/>
            <a:ext cx="2377440" cy="868680"/>
          </a:xfrm>
          <a:prstGeom prst="roundRect">
            <a:avLst>
              <a:gd name="adj" fmla="val 10526"/>
            </a:avLst>
          </a:prstGeom>
          <a:solidFill>
            <a:schemeClr val="bg2"/>
          </a:solidFill>
          <a:ln/>
        </p:spPr>
        <p:txBody>
          <a:bodyPr wrap="square" rtlCol="0" anchor="ctr"/>
          <a:lstStyle/>
          <a:p>
            <a:pPr marL="0" indent="0" algn="ctr">
              <a:buNone/>
            </a:pPr>
            <a:r>
              <a:rPr lang="en-US" sz="1500" b="1" dirty="0">
                <a:solidFill>
                  <a:schemeClr val="tx2"/>
                </a:solidFill>
              </a:rPr>
              <a:t>Transfer learning classifier</a:t>
            </a:r>
            <a:endParaRPr lang="en-US" sz="1500" dirty="0"/>
          </a:p>
        </p:txBody>
      </p:sp>
      <p:sp>
        <p:nvSpPr>
          <p:cNvPr id="16" name="Solution arrow"/>
          <p:cNvSpPr/>
          <p:nvPr/>
        </p:nvSpPr>
        <p:spPr>
          <a:xfrm>
            <a:off x="5916168" y="5559552"/>
            <a:ext cx="365760" cy="274320"/>
          </a:xfrm>
          <a:prstGeom prst="rightArrow">
            <a:avLst/>
          </a:prstGeom>
          <a:solidFill>
            <a:schemeClr val="accent5"/>
          </a:solidFill>
          <a:ln/>
        </p:spPr>
        <p:txBody>
          <a:bodyPr/>
          <a:lstStyle/>
          <a:p>
            <a:endParaRPr lang="en-IN"/>
          </a:p>
        </p:txBody>
      </p:sp>
      <p:sp>
        <p:nvSpPr>
          <p:cNvPr id="17" name="Solution step 3"/>
          <p:cNvSpPr txBox="1"/>
          <p:nvPr/>
        </p:nvSpPr>
        <p:spPr>
          <a:xfrm>
            <a:off x="6364224" y="5257800"/>
            <a:ext cx="2377440" cy="868680"/>
          </a:xfrm>
          <a:prstGeom prst="roundRect">
            <a:avLst>
              <a:gd name="adj" fmla="val 10526"/>
            </a:avLst>
          </a:prstGeom>
          <a:solidFill>
            <a:schemeClr val="bg2"/>
          </a:solidFill>
          <a:ln/>
        </p:spPr>
        <p:txBody>
          <a:bodyPr wrap="square" rtlCol="0" anchor="ctr"/>
          <a:lstStyle/>
          <a:p>
            <a:pPr marL="0" indent="0" algn="ctr">
              <a:buNone/>
            </a:pPr>
            <a:r>
              <a:rPr lang="en-US" sz="1500" b="1" dirty="0">
                <a:solidFill>
                  <a:schemeClr val="tx2"/>
                </a:solidFill>
              </a:rPr>
              <a:t>Grad-CAM + SHAP</a:t>
            </a:r>
            <a:endParaRPr lang="en-US" sz="1500" dirty="0"/>
          </a:p>
        </p:txBody>
      </p:sp>
      <p:sp>
        <p:nvSpPr>
          <p:cNvPr id="18" name="Solution arrow"/>
          <p:cNvSpPr/>
          <p:nvPr/>
        </p:nvSpPr>
        <p:spPr>
          <a:xfrm>
            <a:off x="8823960" y="5559552"/>
            <a:ext cx="365760" cy="274320"/>
          </a:xfrm>
          <a:prstGeom prst="rightArrow">
            <a:avLst/>
          </a:prstGeom>
          <a:solidFill>
            <a:schemeClr val="accent5"/>
          </a:solidFill>
          <a:ln/>
        </p:spPr>
        <p:txBody>
          <a:bodyPr/>
          <a:lstStyle/>
          <a:p>
            <a:endParaRPr lang="en-IN"/>
          </a:p>
        </p:txBody>
      </p:sp>
      <p:sp>
        <p:nvSpPr>
          <p:cNvPr id="19" name="Solution step 4"/>
          <p:cNvSpPr txBox="1"/>
          <p:nvPr/>
        </p:nvSpPr>
        <p:spPr>
          <a:xfrm>
            <a:off x="9272016" y="5257800"/>
            <a:ext cx="2377440" cy="868680"/>
          </a:xfrm>
          <a:prstGeom prst="roundRect">
            <a:avLst>
              <a:gd name="adj" fmla="val 10526"/>
            </a:avLst>
          </a:prstGeom>
          <a:solidFill>
            <a:schemeClr val="accent1"/>
          </a:solidFill>
          <a:ln/>
        </p:spPr>
        <p:txBody>
          <a:bodyPr wrap="square" rtlCol="0" anchor="ctr"/>
          <a:lstStyle/>
          <a:p>
            <a:pPr marL="0" indent="0" algn="ctr">
              <a:buNone/>
            </a:pPr>
            <a:r>
              <a:rPr lang="en-US" sz="1500" b="1" dirty="0">
                <a:solidFill>
                  <a:schemeClr val="bg1"/>
                </a:solidFill>
              </a:rPr>
              <a:t>Explanation-based analysis</a:t>
            </a:r>
            <a:endParaRPr lang="en-US" sz="1500" dirty="0"/>
          </a:p>
        </p:txBody>
      </p:sp>
      <p:sp>
        <p:nvSpPr>
          <p:cNvPr id="25" name="Slide Number Placeholder 0"/>
          <p:cNvSpPr>
            <a:spLocks noGrp="1"/>
          </p:cNvSpPr>
          <p:nvPr>
            <p:ph type="sldNum" sz="quarter" idx="4294967295"/>
          </p:nvPr>
        </p:nvSpPr>
        <p:spPr>
          <a:xfrm>
            <a:off x="10972800" y="6382512"/>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buNone/>
            </a:pPr>
            <a:r>
              <a:rPr lang="en-US" sz="3200" b="1" dirty="0">
                <a:solidFill>
                  <a:schemeClr val="tx2"/>
                </a:solidFill>
              </a:rPr>
              <a:t>Requirements Specification</a:t>
            </a:r>
            <a:endParaRPr lang="en-US" sz="3200" dirty="0"/>
          </a:p>
        </p:txBody>
      </p:sp>
      <p:sp>
        <p:nvSpPr>
          <p:cNvPr id="3" name="Functional panel"/>
          <p:cNvSpPr/>
          <p:nvPr/>
        </p:nvSpPr>
        <p:spPr>
          <a:xfrm>
            <a:off x="548640" y="1280160"/>
            <a:ext cx="5943600" cy="4526280"/>
          </a:xfrm>
          <a:prstGeom prst="roundRect">
            <a:avLst>
              <a:gd name="adj" fmla="val 2020"/>
            </a:avLst>
          </a:prstGeom>
          <a:solidFill>
            <a:schemeClr val="bg2"/>
          </a:solidFill>
          <a:ln/>
        </p:spPr>
        <p:txBody>
          <a:bodyPr/>
          <a:lstStyle/>
          <a:p>
            <a:endParaRPr lang="en-IN"/>
          </a:p>
        </p:txBody>
      </p:sp>
      <p:sp>
        <p:nvSpPr>
          <p:cNvPr id="4" name="Functional requirements circle"/>
          <p:cNvSpPr/>
          <p:nvPr/>
        </p:nvSpPr>
        <p:spPr>
          <a:xfrm>
            <a:off x="777240" y="1417320"/>
            <a:ext cx="457200" cy="457200"/>
          </a:xfrm>
          <a:prstGeom prst="ellipse">
            <a:avLst/>
          </a:prstGeom>
          <a:solidFill>
            <a:schemeClr val="accent1"/>
          </a:solidFill>
          <a:ln/>
        </p:spPr>
        <p:txBody>
          <a:bodyPr/>
          <a:lstStyle/>
          <a:p>
            <a:endParaRPr lang="en-IN"/>
          </a:p>
        </p:txBody>
      </p:sp>
      <p:pic>
        <p:nvPicPr>
          <p:cNvPr id="5" name="Functional requirements icon" descr="Functional requirements"/>
          <p:cNvPicPr>
            <a:picLocks noChangeAspect="1"/>
          </p:cNvPicPr>
          <p:nvPr/>
        </p:nvPicPr>
        <p:blipFill>
          <a:blip r:embed="rId3"/>
          <a:stretch>
            <a:fillRect/>
          </a:stretch>
        </p:blipFill>
        <p:spPr>
          <a:xfrm>
            <a:off x="891540" y="1531620"/>
            <a:ext cx="228600" cy="228600"/>
          </a:xfrm>
          <a:prstGeom prst="rect">
            <a:avLst/>
          </a:prstGeom>
        </p:spPr>
      </p:pic>
      <p:sp>
        <p:nvSpPr>
          <p:cNvPr id="6" name="Text 3"/>
          <p:cNvSpPr txBox="1"/>
          <p:nvPr/>
        </p:nvSpPr>
        <p:spPr>
          <a:xfrm>
            <a:off x="1371600" y="1417320"/>
            <a:ext cx="4937760" cy="457200"/>
          </a:xfrm>
          <a:prstGeom prst="rect">
            <a:avLst/>
          </a:prstGeom>
          <a:noFill/>
          <a:ln/>
        </p:spPr>
        <p:txBody>
          <a:bodyPr wrap="square" lIns="0" tIns="0" rIns="0" bIns="0" rtlCol="0" anchor="ctr"/>
          <a:lstStyle/>
          <a:p>
            <a:pPr marL="0" indent="0">
              <a:buNone/>
            </a:pPr>
            <a:r>
              <a:rPr lang="en-US" sz="1800" b="1" dirty="0">
                <a:solidFill>
                  <a:schemeClr val="tx2"/>
                </a:solidFill>
              </a:rPr>
              <a:t>Functional Requirements</a:t>
            </a:r>
            <a:endParaRPr lang="en-US" sz="1800" dirty="0"/>
          </a:p>
        </p:txBody>
      </p:sp>
      <p:sp>
        <p:nvSpPr>
          <p:cNvPr id="7" name="Text 4"/>
          <p:cNvSpPr txBox="1"/>
          <p:nvPr/>
        </p:nvSpPr>
        <p:spPr>
          <a:xfrm>
            <a:off x="822960" y="2057400"/>
            <a:ext cx="5486400" cy="3657600"/>
          </a:xfrm>
          <a:prstGeom prst="rect">
            <a:avLst/>
          </a:prstGeom>
          <a:noFill/>
          <a:ln/>
        </p:spPr>
        <p:txBody>
          <a:bodyPr wrap="square" lIns="0" tIns="0" rIns="0" bIns="0" rtlCol="0" anchor="t"/>
          <a:lstStyle/>
          <a:p>
            <a:pPr marL="254000" indent="-254000">
              <a:spcAft>
                <a:spcPts val="700"/>
              </a:spcAft>
              <a:buSzPct val="100000"/>
              <a:buFont typeface="+mj-lt"/>
              <a:buAutoNum type="arabicPeriod"/>
            </a:pPr>
            <a:r>
              <a:rPr lang="en-US" sz="1400" dirty="0">
                <a:solidFill>
                  <a:schemeClr val="tx1"/>
                </a:solidFill>
              </a:rPr>
              <a:t>Accept a medical image </a:t>
            </a:r>
            <a:r>
              <a:rPr lang="en-US" sz="1400" dirty="0"/>
              <a:t>(x-ray) </a:t>
            </a:r>
            <a:r>
              <a:rPr lang="en-US" sz="1400" dirty="0">
                <a:solidFill>
                  <a:schemeClr val="tx1"/>
                </a:solidFill>
              </a:rPr>
              <a:t>uploaded by the user.</a:t>
            </a:r>
            <a:endParaRPr lang="en-US" sz="1400" dirty="0"/>
          </a:p>
          <a:p>
            <a:pPr marL="254000" indent="-254000">
              <a:spcAft>
                <a:spcPts val="700"/>
              </a:spcAft>
              <a:buSzPct val="100000"/>
              <a:buFont typeface="+mj-lt"/>
              <a:buAutoNum type="arabicPeriod"/>
            </a:pPr>
            <a:r>
              <a:rPr lang="en-US" sz="1400" dirty="0">
                <a:solidFill>
                  <a:schemeClr val="tx1"/>
                </a:solidFill>
              </a:rPr>
              <a:t>Preprocess the uploaded image into a suitable model input format.</a:t>
            </a:r>
            <a:endParaRPr lang="en-US" sz="1400" dirty="0"/>
          </a:p>
          <a:p>
            <a:pPr marL="254000" indent="-254000">
              <a:spcAft>
                <a:spcPts val="700"/>
              </a:spcAft>
              <a:buSzPct val="100000"/>
              <a:buFont typeface="+mj-lt"/>
              <a:buAutoNum type="arabicPeriod"/>
            </a:pPr>
            <a:r>
              <a:rPr lang="en-US" sz="1400" dirty="0">
                <a:solidFill>
                  <a:schemeClr val="tx1"/>
                </a:solidFill>
              </a:rPr>
              <a:t>Classify the image using the trained deep learning model.</a:t>
            </a:r>
            <a:endParaRPr lang="en-US" sz="1400" dirty="0"/>
          </a:p>
          <a:p>
            <a:pPr marL="254000" indent="-254000">
              <a:spcAft>
                <a:spcPts val="700"/>
              </a:spcAft>
              <a:buSzPct val="100000"/>
              <a:buFont typeface="+mj-lt"/>
              <a:buAutoNum type="arabicPeriod"/>
            </a:pPr>
            <a:r>
              <a:rPr lang="en-US" sz="1400" dirty="0">
                <a:solidFill>
                  <a:schemeClr val="tx1"/>
                </a:solidFill>
              </a:rPr>
              <a:t>Display the predicted class and confidence score.</a:t>
            </a:r>
            <a:endParaRPr lang="en-US" sz="1400" dirty="0"/>
          </a:p>
          <a:p>
            <a:pPr marL="254000" indent="-254000">
              <a:spcAft>
                <a:spcPts val="700"/>
              </a:spcAft>
              <a:buSzPct val="100000"/>
              <a:buFont typeface="+mj-lt"/>
              <a:buAutoNum type="arabicPeriod"/>
            </a:pPr>
            <a:r>
              <a:rPr lang="en-US" sz="1400" dirty="0">
                <a:solidFill>
                  <a:schemeClr val="tx1"/>
                </a:solidFill>
              </a:rPr>
              <a:t>Generate a Grad-CAM heatmap.</a:t>
            </a:r>
            <a:endParaRPr lang="en-US" sz="1400" dirty="0"/>
          </a:p>
          <a:p>
            <a:pPr marL="254000" indent="-254000">
              <a:spcAft>
                <a:spcPts val="700"/>
              </a:spcAft>
              <a:buSzPct val="100000"/>
              <a:buFont typeface="+mj-lt"/>
              <a:buAutoNum type="arabicPeriod"/>
            </a:pPr>
            <a:r>
              <a:rPr lang="en-US" sz="1400" dirty="0">
                <a:solidFill>
                  <a:schemeClr val="tx1"/>
                </a:solidFill>
              </a:rPr>
              <a:t>Generate a SHAP-based feature-contribution explanation.</a:t>
            </a:r>
            <a:endParaRPr lang="en-US" sz="1400" dirty="0"/>
          </a:p>
          <a:p>
            <a:pPr marL="254000" indent="-254000">
              <a:spcAft>
                <a:spcPts val="700"/>
              </a:spcAft>
              <a:buSzPct val="100000"/>
              <a:buFont typeface="+mj-lt"/>
              <a:buAutoNum type="arabicPeriod"/>
            </a:pPr>
            <a:r>
              <a:rPr lang="en-US" sz="1400" dirty="0">
                <a:solidFill>
                  <a:schemeClr val="tx1"/>
                </a:solidFill>
              </a:rPr>
              <a:t>Display the prediction and corresponding visual explanations.</a:t>
            </a:r>
            <a:endParaRPr lang="en-US" sz="1400" dirty="0"/>
          </a:p>
          <a:p>
            <a:pPr marL="254000" indent="-254000">
              <a:spcAft>
                <a:spcPts val="700"/>
              </a:spcAft>
              <a:buSzPct val="100000"/>
              <a:buFont typeface="+mj-lt"/>
              <a:buAutoNum type="arabicPeriod"/>
            </a:pPr>
            <a:r>
              <a:rPr lang="en-US" sz="1400" dirty="0">
                <a:solidFill>
                  <a:schemeClr val="tx1"/>
                </a:solidFill>
              </a:rPr>
              <a:t>Evaluate the model using the specified classification metrics.</a:t>
            </a:r>
            <a:endParaRPr lang="en-US" sz="1400" dirty="0"/>
          </a:p>
        </p:txBody>
      </p:sp>
      <p:sp>
        <p:nvSpPr>
          <p:cNvPr id="8" name="Non-functional panel"/>
          <p:cNvSpPr/>
          <p:nvPr/>
        </p:nvSpPr>
        <p:spPr>
          <a:xfrm>
            <a:off x="6766560" y="1280160"/>
            <a:ext cx="4873752" cy="4526280"/>
          </a:xfrm>
          <a:prstGeom prst="roundRect">
            <a:avLst>
              <a:gd name="adj" fmla="val 2020"/>
            </a:avLst>
          </a:prstGeom>
          <a:solidFill>
            <a:schemeClr val="bg2"/>
          </a:solidFill>
          <a:ln/>
        </p:spPr>
        <p:txBody>
          <a:bodyPr/>
          <a:lstStyle/>
          <a:p>
            <a:endParaRPr lang="en-IN"/>
          </a:p>
        </p:txBody>
      </p:sp>
      <p:sp>
        <p:nvSpPr>
          <p:cNvPr id="9" name="Non-functional requirements circle"/>
          <p:cNvSpPr/>
          <p:nvPr/>
        </p:nvSpPr>
        <p:spPr>
          <a:xfrm>
            <a:off x="6995160" y="1417320"/>
            <a:ext cx="457200" cy="457200"/>
          </a:xfrm>
          <a:prstGeom prst="ellipse">
            <a:avLst/>
          </a:prstGeom>
          <a:solidFill>
            <a:schemeClr val="accent1"/>
          </a:solidFill>
          <a:ln/>
        </p:spPr>
        <p:txBody>
          <a:bodyPr/>
          <a:lstStyle/>
          <a:p>
            <a:endParaRPr lang="en-IN"/>
          </a:p>
        </p:txBody>
      </p:sp>
      <p:pic>
        <p:nvPicPr>
          <p:cNvPr id="10" name="Non-functional requirements icon" descr="Non-functional requirements"/>
          <p:cNvPicPr>
            <a:picLocks noChangeAspect="1"/>
          </p:cNvPicPr>
          <p:nvPr/>
        </p:nvPicPr>
        <p:blipFill>
          <a:blip r:embed="rId4"/>
          <a:stretch>
            <a:fillRect/>
          </a:stretch>
        </p:blipFill>
        <p:spPr>
          <a:xfrm>
            <a:off x="7109460" y="1531620"/>
            <a:ext cx="228600" cy="228600"/>
          </a:xfrm>
          <a:prstGeom prst="rect">
            <a:avLst/>
          </a:prstGeom>
        </p:spPr>
      </p:pic>
      <p:sp>
        <p:nvSpPr>
          <p:cNvPr id="11" name="Text 7"/>
          <p:cNvSpPr txBox="1"/>
          <p:nvPr/>
        </p:nvSpPr>
        <p:spPr>
          <a:xfrm>
            <a:off x="7589520" y="1417320"/>
            <a:ext cx="3931920" cy="457200"/>
          </a:xfrm>
          <a:prstGeom prst="rect">
            <a:avLst/>
          </a:prstGeom>
          <a:noFill/>
          <a:ln/>
        </p:spPr>
        <p:txBody>
          <a:bodyPr wrap="square" lIns="0" tIns="0" rIns="0" bIns="0" rtlCol="0" anchor="ctr"/>
          <a:lstStyle/>
          <a:p>
            <a:pPr marL="0" indent="0">
              <a:buNone/>
            </a:pPr>
            <a:r>
              <a:rPr lang="en-US" sz="1800" b="1" dirty="0">
                <a:solidFill>
                  <a:schemeClr val="tx2"/>
                </a:solidFill>
              </a:rPr>
              <a:t>Non-Functional Requirements</a:t>
            </a:r>
            <a:endParaRPr lang="en-US" sz="1800" dirty="0"/>
          </a:p>
        </p:txBody>
      </p:sp>
      <p:sp>
        <p:nvSpPr>
          <p:cNvPr id="12" name="Text 8"/>
          <p:cNvSpPr txBox="1"/>
          <p:nvPr/>
        </p:nvSpPr>
        <p:spPr>
          <a:xfrm>
            <a:off x="6995160" y="2057400"/>
            <a:ext cx="4434840" cy="3657600"/>
          </a:xfrm>
          <a:prstGeom prst="rect">
            <a:avLst/>
          </a:prstGeom>
          <a:noFill/>
          <a:ln/>
        </p:spPr>
        <p:txBody>
          <a:bodyPr wrap="square" lIns="0" tIns="0" rIns="0" bIns="0" rtlCol="0" anchor="t"/>
          <a:lstStyle/>
          <a:p>
            <a:pPr marL="203200" indent="-203200">
              <a:spcAft>
                <a:spcPts val="800"/>
              </a:spcAft>
              <a:buSzPct val="100000"/>
              <a:buChar char="•"/>
            </a:pPr>
            <a:r>
              <a:rPr lang="en-US" sz="1400" b="1" dirty="0">
                <a:solidFill>
                  <a:schemeClr val="accent1"/>
                </a:solidFill>
              </a:rPr>
              <a:t>Usability: </a:t>
            </a:r>
            <a:r>
              <a:rPr lang="en-US" sz="1400" dirty="0">
                <a:solidFill>
                  <a:schemeClr val="tx1"/>
                </a:solidFill>
              </a:rPr>
              <a:t>Provide an interactive interface for image upload and result visualization.</a:t>
            </a:r>
            <a:endParaRPr lang="en-US" sz="1400" dirty="0"/>
          </a:p>
          <a:p>
            <a:pPr marL="203200" indent="-203200">
              <a:spcAft>
                <a:spcPts val="800"/>
              </a:spcAft>
              <a:buSzPct val="100000"/>
              <a:buChar char="•"/>
            </a:pPr>
            <a:r>
              <a:rPr lang="en-US" sz="1400" b="1" dirty="0">
                <a:solidFill>
                  <a:schemeClr val="accent1"/>
                </a:solidFill>
              </a:rPr>
              <a:t>Performance: </a:t>
            </a:r>
            <a:r>
              <a:rPr lang="en-US" sz="1400" dirty="0">
                <a:solidFill>
                  <a:schemeClr val="tx1"/>
                </a:solidFill>
              </a:rPr>
              <a:t>Process images and generate results within practical application constraints.</a:t>
            </a:r>
            <a:endParaRPr lang="en-US" sz="1400" dirty="0"/>
          </a:p>
          <a:p>
            <a:pPr marL="203200" indent="-203200">
              <a:spcAft>
                <a:spcPts val="800"/>
              </a:spcAft>
              <a:buSzPct val="100000"/>
              <a:buChar char="•"/>
            </a:pPr>
            <a:r>
              <a:rPr lang="en-US" sz="1400" b="1" dirty="0">
                <a:solidFill>
                  <a:schemeClr val="accent1"/>
                </a:solidFill>
              </a:rPr>
              <a:t>Reliability: </a:t>
            </a:r>
            <a:r>
              <a:rPr lang="en-US" sz="1400" dirty="0">
                <a:solidFill>
                  <a:schemeClr val="tx1"/>
                </a:solidFill>
              </a:rPr>
              <a:t>Apply consistent preprocessing and appropriate data quality checks.</a:t>
            </a:r>
            <a:endParaRPr lang="en-US" sz="1400" dirty="0"/>
          </a:p>
          <a:p>
            <a:pPr marL="203200" indent="-203200">
              <a:spcAft>
                <a:spcPts val="800"/>
              </a:spcAft>
              <a:buSzPct val="100000"/>
              <a:buChar char="•"/>
            </a:pPr>
            <a:r>
              <a:rPr lang="en-US" sz="1400" b="1" dirty="0">
                <a:solidFill>
                  <a:schemeClr val="accent1"/>
                </a:solidFill>
              </a:rPr>
              <a:t>Maintainability: </a:t>
            </a:r>
            <a:r>
              <a:rPr lang="en-US" sz="1400" dirty="0">
                <a:solidFill>
                  <a:schemeClr val="tx1"/>
                </a:solidFill>
              </a:rPr>
              <a:t>Organize the application into understandable processing, classification, and explanation components.</a:t>
            </a:r>
            <a:endParaRPr lang="en-US" sz="1400" dirty="0"/>
          </a:p>
        </p:txBody>
      </p:sp>
      <p:sp>
        <p:nvSpPr>
          <p:cNvPr id="13" name="Text 9"/>
          <p:cNvSpPr txBox="1"/>
          <p:nvPr/>
        </p:nvSpPr>
        <p:spPr>
          <a:xfrm>
            <a:off x="548640" y="5897880"/>
            <a:ext cx="11091672" cy="320040"/>
          </a:xfrm>
          <a:prstGeom prst="rect">
            <a:avLst/>
          </a:prstGeom>
          <a:noFill/>
          <a:ln/>
        </p:spPr>
        <p:txBody>
          <a:bodyPr wrap="square" lIns="0" tIns="0" rIns="0" bIns="0" rtlCol="0" anchor="ctr"/>
          <a:lstStyle/>
          <a:p>
            <a:pPr marL="0" indent="0">
              <a:buNone/>
            </a:pPr>
            <a:r>
              <a:rPr lang="en-US" sz="1100" i="1" dirty="0">
                <a:solidFill>
                  <a:schemeClr val="accent5"/>
                </a:solidFill>
              </a:rPr>
              <a:t>Note: These requirements translate the workflow and expected outcomes in the project synopsis into system requirements.</a:t>
            </a:r>
            <a:endParaRPr lang="en-US" sz="1100" dirty="0"/>
          </a:p>
        </p:txBody>
      </p:sp>
      <p:sp>
        <p:nvSpPr>
          <p:cNvPr id="25" name="Slide Number Placeholder 0"/>
          <p:cNvSpPr>
            <a:spLocks noGrp="1"/>
          </p:cNvSpPr>
          <p:nvPr>
            <p:ph type="sldNum" sz="quarter" idx="4294967295"/>
          </p:nvPr>
        </p:nvSpPr>
        <p:spPr>
          <a:xfrm>
            <a:off x="10972800" y="6382512"/>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buNone/>
            </a:pPr>
            <a:r>
              <a:rPr lang="en-US" sz="3200" b="1" dirty="0">
                <a:solidFill>
                  <a:schemeClr val="tx2"/>
                </a:solidFill>
              </a:rPr>
              <a:t>High-Level Design</a:t>
            </a:r>
            <a:endParaRPr lang="en-US" sz="3200" dirty="0"/>
          </a:p>
        </p:txBody>
      </p:sp>
      <p:sp>
        <p:nvSpPr>
          <p:cNvPr id="3" name="Input Layer"/>
          <p:cNvSpPr txBox="1"/>
          <p:nvPr/>
        </p:nvSpPr>
        <p:spPr>
          <a:xfrm>
            <a:off x="548640" y="1280160"/>
            <a:ext cx="2286000" cy="658368"/>
          </a:xfrm>
          <a:prstGeom prst="roundRect">
            <a:avLst>
              <a:gd name="adj" fmla="val 11111"/>
            </a:avLst>
          </a:prstGeom>
          <a:solidFill>
            <a:schemeClr val="tx2"/>
          </a:solidFill>
          <a:ln/>
        </p:spPr>
        <p:txBody>
          <a:bodyPr wrap="square" rtlCol="0" anchor="ctr"/>
          <a:lstStyle/>
          <a:p>
            <a:pPr marL="0" indent="0" algn="ctr">
              <a:buNone/>
            </a:pPr>
            <a:r>
              <a:rPr lang="en-US" sz="1500" b="1" dirty="0">
                <a:solidFill>
                  <a:schemeClr val="bg1"/>
                </a:solidFill>
              </a:rPr>
              <a:t>Input Layer</a:t>
            </a:r>
            <a:endParaRPr lang="en-US" sz="1500" dirty="0"/>
          </a:p>
        </p:txBody>
      </p:sp>
      <p:sp>
        <p:nvSpPr>
          <p:cNvPr id="4" name="Input Layer details"/>
          <p:cNvSpPr txBox="1"/>
          <p:nvPr/>
        </p:nvSpPr>
        <p:spPr>
          <a:xfrm>
            <a:off x="2926080" y="1280160"/>
            <a:ext cx="5303520" cy="658368"/>
          </a:xfrm>
          <a:prstGeom prst="roundRect">
            <a:avLst>
              <a:gd name="adj" fmla="val 11111"/>
            </a:avLst>
          </a:prstGeom>
          <a:solidFill>
            <a:schemeClr val="bg2"/>
          </a:solidFill>
          <a:ln/>
        </p:spPr>
        <p:txBody>
          <a:bodyPr wrap="square" lIns="0" tIns="127000" rIns="127000" bIns="0" rtlCol="0" anchor="ctr"/>
          <a:lstStyle/>
          <a:p>
            <a:pPr marL="0" indent="0" algn="l">
              <a:buNone/>
            </a:pPr>
            <a:r>
              <a:rPr lang="en-US" sz="1400" dirty="0">
                <a:solidFill>
                  <a:schemeClr val="tx1"/>
                </a:solidFill>
              </a:rPr>
              <a:t>User uploads a chest X-ray image</a:t>
            </a:r>
            <a:endParaRPr lang="en-US" sz="1400" dirty="0"/>
          </a:p>
        </p:txBody>
      </p:sp>
      <p:sp>
        <p:nvSpPr>
          <p:cNvPr id="5" name="Layer arrow"/>
          <p:cNvSpPr/>
          <p:nvPr/>
        </p:nvSpPr>
        <p:spPr>
          <a:xfrm>
            <a:off x="1554480" y="1956816"/>
            <a:ext cx="274320" cy="146304"/>
          </a:xfrm>
          <a:prstGeom prst="downArrow">
            <a:avLst/>
          </a:prstGeom>
          <a:solidFill>
            <a:schemeClr val="accent5"/>
          </a:solidFill>
          <a:ln/>
        </p:spPr>
        <p:txBody>
          <a:bodyPr/>
          <a:lstStyle/>
          <a:p>
            <a:endParaRPr lang="en-IN"/>
          </a:p>
        </p:txBody>
      </p:sp>
      <p:sp>
        <p:nvSpPr>
          <p:cNvPr id="6" name="Preprocessing Layer"/>
          <p:cNvSpPr txBox="1"/>
          <p:nvPr/>
        </p:nvSpPr>
        <p:spPr>
          <a:xfrm>
            <a:off x="548640" y="2121408"/>
            <a:ext cx="2286000" cy="658368"/>
          </a:xfrm>
          <a:prstGeom prst="roundRect">
            <a:avLst>
              <a:gd name="adj" fmla="val 11111"/>
            </a:avLst>
          </a:prstGeom>
          <a:solidFill>
            <a:schemeClr val="tx2"/>
          </a:solidFill>
          <a:ln/>
        </p:spPr>
        <p:txBody>
          <a:bodyPr wrap="square" rtlCol="0" anchor="ctr"/>
          <a:lstStyle/>
          <a:p>
            <a:pPr marL="0" indent="0" algn="ctr">
              <a:buNone/>
            </a:pPr>
            <a:r>
              <a:rPr lang="en-US" sz="1500" b="1" dirty="0">
                <a:solidFill>
                  <a:schemeClr val="bg1"/>
                </a:solidFill>
              </a:rPr>
              <a:t>Preprocessing Layer</a:t>
            </a:r>
            <a:endParaRPr lang="en-US" sz="1500" dirty="0"/>
          </a:p>
        </p:txBody>
      </p:sp>
      <p:sp>
        <p:nvSpPr>
          <p:cNvPr id="7" name="Preprocessing Layer details"/>
          <p:cNvSpPr txBox="1"/>
          <p:nvPr/>
        </p:nvSpPr>
        <p:spPr>
          <a:xfrm>
            <a:off x="2926080" y="2121408"/>
            <a:ext cx="5303520" cy="658368"/>
          </a:xfrm>
          <a:prstGeom prst="roundRect">
            <a:avLst>
              <a:gd name="adj" fmla="val 11111"/>
            </a:avLst>
          </a:prstGeom>
          <a:solidFill>
            <a:schemeClr val="bg2"/>
          </a:solidFill>
          <a:ln/>
        </p:spPr>
        <p:txBody>
          <a:bodyPr wrap="square" lIns="0" tIns="127000" rIns="127000" bIns="0" rtlCol="0" anchor="ctr"/>
          <a:lstStyle/>
          <a:p>
            <a:pPr marL="0" indent="0" algn="l">
              <a:buNone/>
            </a:pPr>
            <a:r>
              <a:rPr lang="en-US" sz="1400" dirty="0">
                <a:solidFill>
                  <a:schemeClr val="tx1"/>
                </a:solidFill>
              </a:rPr>
              <a:t>Image quality checking · Resizing · Normalization · Augmentation (during training)</a:t>
            </a:r>
            <a:endParaRPr lang="en-US" sz="1400" dirty="0"/>
          </a:p>
        </p:txBody>
      </p:sp>
      <p:sp>
        <p:nvSpPr>
          <p:cNvPr id="8" name="Layer arrow"/>
          <p:cNvSpPr/>
          <p:nvPr/>
        </p:nvSpPr>
        <p:spPr>
          <a:xfrm>
            <a:off x="1554480" y="2798064"/>
            <a:ext cx="274320" cy="146304"/>
          </a:xfrm>
          <a:prstGeom prst="downArrow">
            <a:avLst/>
          </a:prstGeom>
          <a:solidFill>
            <a:schemeClr val="accent5"/>
          </a:solidFill>
          <a:ln/>
        </p:spPr>
        <p:txBody>
          <a:bodyPr/>
          <a:lstStyle/>
          <a:p>
            <a:endParaRPr lang="en-IN"/>
          </a:p>
        </p:txBody>
      </p:sp>
      <p:sp>
        <p:nvSpPr>
          <p:cNvPr id="9" name="Classification Layer"/>
          <p:cNvSpPr txBox="1"/>
          <p:nvPr/>
        </p:nvSpPr>
        <p:spPr>
          <a:xfrm>
            <a:off x="548640" y="2962656"/>
            <a:ext cx="2286000" cy="658368"/>
          </a:xfrm>
          <a:prstGeom prst="roundRect">
            <a:avLst>
              <a:gd name="adj" fmla="val 11111"/>
            </a:avLst>
          </a:prstGeom>
          <a:solidFill>
            <a:schemeClr val="tx2"/>
          </a:solidFill>
          <a:ln/>
        </p:spPr>
        <p:txBody>
          <a:bodyPr wrap="square" rtlCol="0" anchor="ctr"/>
          <a:lstStyle/>
          <a:p>
            <a:pPr marL="0" indent="0" algn="ctr">
              <a:buNone/>
            </a:pPr>
            <a:r>
              <a:rPr lang="en-US" sz="1500" b="1" dirty="0">
                <a:solidFill>
                  <a:schemeClr val="bg1"/>
                </a:solidFill>
              </a:rPr>
              <a:t>Classification Layer</a:t>
            </a:r>
            <a:endParaRPr lang="en-US" sz="1500" dirty="0"/>
          </a:p>
        </p:txBody>
      </p:sp>
      <p:sp>
        <p:nvSpPr>
          <p:cNvPr id="10" name="Classification Layer details"/>
          <p:cNvSpPr txBox="1"/>
          <p:nvPr/>
        </p:nvSpPr>
        <p:spPr>
          <a:xfrm>
            <a:off x="2926080" y="2962656"/>
            <a:ext cx="5303520" cy="658368"/>
          </a:xfrm>
          <a:prstGeom prst="roundRect">
            <a:avLst>
              <a:gd name="adj" fmla="val 11111"/>
            </a:avLst>
          </a:prstGeom>
          <a:solidFill>
            <a:schemeClr val="bg2"/>
          </a:solidFill>
          <a:ln/>
        </p:spPr>
        <p:txBody>
          <a:bodyPr wrap="square" lIns="0" tIns="127000" rIns="127000" bIns="0" rtlCol="0" anchor="ctr"/>
          <a:lstStyle/>
          <a:p>
            <a:pPr marL="0" indent="0" algn="l">
              <a:buNone/>
            </a:pPr>
            <a:r>
              <a:rPr lang="en-US" sz="1400" dirty="0">
                <a:solidFill>
                  <a:schemeClr val="tx1"/>
                </a:solidFill>
              </a:rPr>
              <a:t>CNN , Transfer learning: ResNet50  · Task-specific classification layer</a:t>
            </a:r>
            <a:endParaRPr lang="en-US" sz="1400" dirty="0"/>
          </a:p>
        </p:txBody>
      </p:sp>
      <p:sp>
        <p:nvSpPr>
          <p:cNvPr id="11" name="Layer arrow"/>
          <p:cNvSpPr/>
          <p:nvPr/>
        </p:nvSpPr>
        <p:spPr>
          <a:xfrm>
            <a:off x="1554480" y="3639312"/>
            <a:ext cx="274320" cy="146304"/>
          </a:xfrm>
          <a:prstGeom prst="downArrow">
            <a:avLst/>
          </a:prstGeom>
          <a:solidFill>
            <a:schemeClr val="accent5"/>
          </a:solidFill>
          <a:ln/>
        </p:spPr>
        <p:txBody>
          <a:bodyPr/>
          <a:lstStyle/>
          <a:p>
            <a:endParaRPr lang="en-IN"/>
          </a:p>
        </p:txBody>
      </p:sp>
      <p:sp>
        <p:nvSpPr>
          <p:cNvPr id="12" name="Prediction Layer"/>
          <p:cNvSpPr txBox="1"/>
          <p:nvPr/>
        </p:nvSpPr>
        <p:spPr>
          <a:xfrm>
            <a:off x="548640" y="3803904"/>
            <a:ext cx="2286000" cy="658368"/>
          </a:xfrm>
          <a:prstGeom prst="roundRect">
            <a:avLst>
              <a:gd name="adj" fmla="val 11111"/>
            </a:avLst>
          </a:prstGeom>
          <a:solidFill>
            <a:schemeClr val="tx2"/>
          </a:solidFill>
          <a:ln/>
        </p:spPr>
        <p:txBody>
          <a:bodyPr wrap="square" rtlCol="0" anchor="ctr"/>
          <a:lstStyle/>
          <a:p>
            <a:pPr marL="0" indent="0" algn="ctr">
              <a:buNone/>
            </a:pPr>
            <a:r>
              <a:rPr lang="en-US" sz="1500" b="1" dirty="0">
                <a:solidFill>
                  <a:schemeClr val="bg1"/>
                </a:solidFill>
              </a:rPr>
              <a:t>Prediction Layer</a:t>
            </a:r>
            <a:endParaRPr lang="en-US" sz="1500" dirty="0"/>
          </a:p>
        </p:txBody>
      </p:sp>
      <p:sp>
        <p:nvSpPr>
          <p:cNvPr id="13" name="Prediction Layer details"/>
          <p:cNvSpPr txBox="1"/>
          <p:nvPr/>
        </p:nvSpPr>
        <p:spPr>
          <a:xfrm>
            <a:off x="2926080" y="3803904"/>
            <a:ext cx="5303520" cy="658368"/>
          </a:xfrm>
          <a:prstGeom prst="roundRect">
            <a:avLst>
              <a:gd name="adj" fmla="val 11111"/>
            </a:avLst>
          </a:prstGeom>
          <a:solidFill>
            <a:schemeClr val="bg2"/>
          </a:solidFill>
          <a:ln/>
        </p:spPr>
        <p:txBody>
          <a:bodyPr wrap="square" lIns="0" tIns="127000" rIns="127000" bIns="0" rtlCol="0" anchor="ctr"/>
          <a:lstStyle/>
          <a:p>
            <a:pPr marL="0" indent="0" algn="l">
              <a:buNone/>
            </a:pPr>
            <a:r>
              <a:rPr lang="en-US" sz="1400" dirty="0">
                <a:solidFill>
                  <a:schemeClr val="tx1"/>
                </a:solidFill>
              </a:rPr>
              <a:t>Predicted class · Confidence score</a:t>
            </a:r>
            <a:endParaRPr lang="en-US" sz="1400" dirty="0"/>
          </a:p>
        </p:txBody>
      </p:sp>
      <p:sp>
        <p:nvSpPr>
          <p:cNvPr id="14" name="Layer arrow"/>
          <p:cNvSpPr/>
          <p:nvPr/>
        </p:nvSpPr>
        <p:spPr>
          <a:xfrm>
            <a:off x="4091940" y="4480560"/>
            <a:ext cx="274320" cy="146304"/>
          </a:xfrm>
          <a:prstGeom prst="downArrow">
            <a:avLst/>
          </a:prstGeom>
          <a:solidFill>
            <a:schemeClr val="accent5"/>
          </a:solidFill>
          <a:ln/>
        </p:spPr>
        <p:txBody>
          <a:bodyPr/>
          <a:lstStyle/>
          <a:p>
            <a:endParaRPr lang="en-IN"/>
          </a:p>
        </p:txBody>
      </p:sp>
      <p:sp>
        <p:nvSpPr>
          <p:cNvPr id="15" name="Layer arrow"/>
          <p:cNvSpPr/>
          <p:nvPr/>
        </p:nvSpPr>
        <p:spPr>
          <a:xfrm>
            <a:off x="6789420" y="4480560"/>
            <a:ext cx="274320" cy="146304"/>
          </a:xfrm>
          <a:prstGeom prst="downArrow">
            <a:avLst/>
          </a:prstGeom>
          <a:solidFill>
            <a:schemeClr val="accent5"/>
          </a:solidFill>
          <a:ln/>
        </p:spPr>
        <p:txBody>
          <a:bodyPr/>
          <a:lstStyle/>
          <a:p>
            <a:endParaRPr lang="en-IN"/>
          </a:p>
        </p:txBody>
      </p:sp>
      <p:sp>
        <p:nvSpPr>
          <p:cNvPr id="16" name="Explainable AI Layer"/>
          <p:cNvSpPr txBox="1"/>
          <p:nvPr/>
        </p:nvSpPr>
        <p:spPr>
          <a:xfrm>
            <a:off x="548640" y="4645152"/>
            <a:ext cx="2286000" cy="658368"/>
          </a:xfrm>
          <a:prstGeom prst="roundRect">
            <a:avLst>
              <a:gd name="adj" fmla="val 11111"/>
            </a:avLst>
          </a:prstGeom>
          <a:solidFill>
            <a:schemeClr val="accent1"/>
          </a:solidFill>
          <a:ln/>
        </p:spPr>
        <p:txBody>
          <a:bodyPr wrap="square" rtlCol="0" anchor="ctr"/>
          <a:lstStyle/>
          <a:p>
            <a:pPr marL="0" indent="0" algn="ctr">
              <a:buNone/>
            </a:pPr>
            <a:r>
              <a:rPr lang="en-US" sz="1500" b="1" dirty="0">
                <a:solidFill>
                  <a:schemeClr val="bg1"/>
                </a:solidFill>
              </a:rPr>
              <a:t>Explainable AI Layer</a:t>
            </a:r>
            <a:endParaRPr lang="en-US" sz="1500" dirty="0"/>
          </a:p>
        </p:txBody>
      </p:sp>
      <p:sp>
        <p:nvSpPr>
          <p:cNvPr id="17" name="Grad-CAM branch"/>
          <p:cNvSpPr txBox="1"/>
          <p:nvPr/>
        </p:nvSpPr>
        <p:spPr>
          <a:xfrm>
            <a:off x="2926080" y="4645152"/>
            <a:ext cx="2606040" cy="658368"/>
          </a:xfrm>
          <a:prstGeom prst="roundRect">
            <a:avLst>
              <a:gd name="adj" fmla="val 11111"/>
            </a:avLst>
          </a:prstGeom>
          <a:solidFill>
            <a:schemeClr val="bg2"/>
          </a:solidFill>
          <a:ln/>
        </p:spPr>
        <p:txBody>
          <a:bodyPr wrap="square" lIns="25400" tIns="25400" rIns="25400" bIns="25400" rtlCol="0" anchor="ctr"/>
          <a:lstStyle/>
          <a:p>
            <a:pPr marL="0" indent="0" algn="ctr">
              <a:buNone/>
            </a:pPr>
            <a:r>
              <a:rPr lang="en-US" sz="1400" b="1" dirty="0">
                <a:solidFill>
                  <a:schemeClr val="accent1"/>
                </a:solidFill>
              </a:rPr>
              <a:t>Grad-CAM</a:t>
            </a:r>
            <a:endParaRPr lang="en-US" sz="1400" dirty="0"/>
          </a:p>
          <a:p>
            <a:pPr marL="0" indent="0" algn="ctr">
              <a:buNone/>
            </a:pPr>
            <a:r>
              <a:rPr lang="en-US" sz="1200" dirty="0">
                <a:solidFill>
                  <a:schemeClr val="tx1"/>
                </a:solidFill>
              </a:rPr>
              <a:t>Visual heatmap</a:t>
            </a:r>
            <a:endParaRPr lang="en-US" sz="1400" dirty="0"/>
          </a:p>
        </p:txBody>
      </p:sp>
      <p:sp>
        <p:nvSpPr>
          <p:cNvPr id="18" name="SHAP branch"/>
          <p:cNvSpPr txBox="1"/>
          <p:nvPr/>
        </p:nvSpPr>
        <p:spPr>
          <a:xfrm>
            <a:off x="5623560" y="4645152"/>
            <a:ext cx="2606040" cy="658368"/>
          </a:xfrm>
          <a:prstGeom prst="roundRect">
            <a:avLst>
              <a:gd name="adj" fmla="val 11111"/>
            </a:avLst>
          </a:prstGeom>
          <a:solidFill>
            <a:schemeClr val="bg2"/>
          </a:solidFill>
          <a:ln/>
        </p:spPr>
        <p:txBody>
          <a:bodyPr wrap="square" lIns="25400" tIns="25400" rIns="25400" bIns="25400" rtlCol="0" anchor="ctr"/>
          <a:lstStyle/>
          <a:p>
            <a:pPr marL="0" indent="0" algn="ctr">
              <a:buNone/>
            </a:pPr>
            <a:r>
              <a:rPr lang="en-US" sz="1400" b="1" dirty="0">
                <a:solidFill>
                  <a:schemeClr val="accent1"/>
                </a:solidFill>
              </a:rPr>
              <a:t>SHAP</a:t>
            </a:r>
            <a:endParaRPr lang="en-US" sz="1400" dirty="0"/>
          </a:p>
          <a:p>
            <a:pPr marL="0" indent="0" algn="ctr">
              <a:buNone/>
            </a:pPr>
            <a:r>
              <a:rPr lang="en-US" sz="1200" dirty="0">
                <a:solidFill>
                  <a:schemeClr val="tx1"/>
                </a:solidFill>
              </a:rPr>
              <a:t>Feature-contribution explanation</a:t>
            </a:r>
            <a:endParaRPr lang="en-US" sz="1400" dirty="0"/>
          </a:p>
        </p:txBody>
      </p:sp>
      <p:sp>
        <p:nvSpPr>
          <p:cNvPr id="19" name="Layer arrow"/>
          <p:cNvSpPr/>
          <p:nvPr/>
        </p:nvSpPr>
        <p:spPr>
          <a:xfrm>
            <a:off x="4091940" y="5321808"/>
            <a:ext cx="274320" cy="146304"/>
          </a:xfrm>
          <a:prstGeom prst="downArrow">
            <a:avLst/>
          </a:prstGeom>
          <a:solidFill>
            <a:schemeClr val="accent5"/>
          </a:solidFill>
          <a:ln/>
        </p:spPr>
        <p:txBody>
          <a:bodyPr/>
          <a:lstStyle/>
          <a:p>
            <a:endParaRPr lang="en-IN"/>
          </a:p>
        </p:txBody>
      </p:sp>
      <p:sp>
        <p:nvSpPr>
          <p:cNvPr id="20" name="Layer arrow"/>
          <p:cNvSpPr/>
          <p:nvPr/>
        </p:nvSpPr>
        <p:spPr>
          <a:xfrm>
            <a:off x="6789420" y="5321808"/>
            <a:ext cx="274320" cy="146304"/>
          </a:xfrm>
          <a:prstGeom prst="downArrow">
            <a:avLst/>
          </a:prstGeom>
          <a:solidFill>
            <a:schemeClr val="accent5"/>
          </a:solidFill>
          <a:ln/>
        </p:spPr>
        <p:txBody>
          <a:bodyPr/>
          <a:lstStyle/>
          <a:p>
            <a:endParaRPr lang="en-IN"/>
          </a:p>
        </p:txBody>
      </p:sp>
      <p:sp>
        <p:nvSpPr>
          <p:cNvPr id="21" name="Output Layer"/>
          <p:cNvSpPr txBox="1"/>
          <p:nvPr/>
        </p:nvSpPr>
        <p:spPr>
          <a:xfrm>
            <a:off x="548640" y="5486400"/>
            <a:ext cx="2286000" cy="658368"/>
          </a:xfrm>
          <a:prstGeom prst="roundRect">
            <a:avLst>
              <a:gd name="adj" fmla="val 11111"/>
            </a:avLst>
          </a:prstGeom>
          <a:solidFill>
            <a:schemeClr val="tx2"/>
          </a:solidFill>
          <a:ln/>
        </p:spPr>
        <p:txBody>
          <a:bodyPr wrap="square" rtlCol="0" anchor="ctr"/>
          <a:lstStyle/>
          <a:p>
            <a:pPr marL="0" indent="0" algn="ctr">
              <a:buNone/>
            </a:pPr>
            <a:r>
              <a:rPr lang="en-US" sz="1500" b="1" dirty="0">
                <a:solidFill>
                  <a:schemeClr val="bg1"/>
                </a:solidFill>
              </a:rPr>
              <a:t>Output Layer</a:t>
            </a:r>
            <a:endParaRPr lang="en-US" sz="1500" dirty="0"/>
          </a:p>
        </p:txBody>
      </p:sp>
      <p:sp>
        <p:nvSpPr>
          <p:cNvPr id="22" name="Output Layer details"/>
          <p:cNvSpPr txBox="1"/>
          <p:nvPr/>
        </p:nvSpPr>
        <p:spPr>
          <a:xfrm>
            <a:off x="2926080" y="5486400"/>
            <a:ext cx="5303520" cy="658368"/>
          </a:xfrm>
          <a:prstGeom prst="roundRect">
            <a:avLst>
              <a:gd name="adj" fmla="val 11111"/>
            </a:avLst>
          </a:prstGeom>
          <a:solidFill>
            <a:schemeClr val="bg2"/>
          </a:solidFill>
          <a:ln/>
        </p:spPr>
        <p:txBody>
          <a:bodyPr wrap="square" lIns="0" tIns="127000" rIns="127000" bIns="0" rtlCol="0" anchor="ctr"/>
          <a:lstStyle/>
          <a:p>
            <a:pPr marL="0" indent="0" algn="l">
              <a:buNone/>
            </a:pPr>
            <a:r>
              <a:rPr lang="en-US" sz="1400" dirty="0">
                <a:solidFill>
                  <a:schemeClr val="tx1"/>
                </a:solidFill>
              </a:rPr>
              <a:t>Interactive Streamlit application · Prediction and confidence score · Visual explanation results</a:t>
            </a:r>
            <a:endParaRPr lang="en-US" sz="1400" dirty="0"/>
          </a:p>
        </p:txBody>
      </p:sp>
      <p:sp>
        <p:nvSpPr>
          <p:cNvPr id="23" name="Architecture objective panel"/>
          <p:cNvSpPr/>
          <p:nvPr/>
        </p:nvSpPr>
        <p:spPr>
          <a:xfrm>
            <a:off x="8595360" y="1280160"/>
            <a:ext cx="3044952" cy="4864608"/>
          </a:xfrm>
          <a:prstGeom prst="roundRect">
            <a:avLst>
              <a:gd name="adj" fmla="val 3003"/>
            </a:avLst>
          </a:prstGeom>
          <a:solidFill>
            <a:schemeClr val="tx2"/>
          </a:solidFill>
          <a:ln/>
        </p:spPr>
        <p:txBody>
          <a:bodyPr/>
          <a:lstStyle/>
          <a:p>
            <a:endParaRPr lang="en-IN"/>
          </a:p>
        </p:txBody>
      </p:sp>
      <p:sp>
        <p:nvSpPr>
          <p:cNvPr id="24" name="Architecture circle"/>
          <p:cNvSpPr/>
          <p:nvPr/>
        </p:nvSpPr>
        <p:spPr>
          <a:xfrm>
            <a:off x="8869680" y="1554480"/>
            <a:ext cx="640080" cy="640080"/>
          </a:xfrm>
          <a:prstGeom prst="ellipse">
            <a:avLst/>
          </a:prstGeom>
          <a:solidFill>
            <a:schemeClr val="accent1"/>
          </a:solidFill>
          <a:ln/>
        </p:spPr>
        <p:txBody>
          <a:bodyPr/>
          <a:lstStyle/>
          <a:p>
            <a:endParaRPr lang="en-IN"/>
          </a:p>
        </p:txBody>
      </p:sp>
      <p:pic>
        <p:nvPicPr>
          <p:cNvPr id="25" name="Architecture icon" descr="Architecture"/>
          <p:cNvPicPr>
            <a:picLocks noChangeAspect="1"/>
          </p:cNvPicPr>
          <p:nvPr/>
        </p:nvPicPr>
        <p:blipFill>
          <a:blip r:embed="rId3"/>
          <a:stretch>
            <a:fillRect/>
          </a:stretch>
        </p:blipFill>
        <p:spPr>
          <a:xfrm>
            <a:off x="9029700" y="1714500"/>
            <a:ext cx="320040" cy="320040"/>
          </a:xfrm>
          <a:prstGeom prst="rect">
            <a:avLst/>
          </a:prstGeom>
        </p:spPr>
      </p:pic>
      <p:sp>
        <p:nvSpPr>
          <p:cNvPr id="26" name="Text 23"/>
          <p:cNvSpPr txBox="1"/>
          <p:nvPr/>
        </p:nvSpPr>
        <p:spPr>
          <a:xfrm>
            <a:off x="8869680" y="2377440"/>
            <a:ext cx="2560320" cy="731520"/>
          </a:xfrm>
          <a:prstGeom prst="rect">
            <a:avLst/>
          </a:prstGeom>
          <a:noFill/>
          <a:ln/>
        </p:spPr>
        <p:txBody>
          <a:bodyPr wrap="square" lIns="0" tIns="0" rIns="0" bIns="0" rtlCol="0" anchor="t"/>
          <a:lstStyle/>
          <a:p>
            <a:pPr marL="0" indent="0">
              <a:buNone/>
            </a:pPr>
            <a:r>
              <a:rPr lang="en-US" sz="2000" b="1" dirty="0">
                <a:solidFill>
                  <a:schemeClr val="accent3"/>
                </a:solidFill>
              </a:rPr>
              <a:t>Architecture Objective</a:t>
            </a:r>
            <a:endParaRPr lang="en-US" sz="2000" dirty="0"/>
          </a:p>
        </p:txBody>
      </p:sp>
      <p:sp>
        <p:nvSpPr>
          <p:cNvPr id="27" name="Text 24"/>
          <p:cNvSpPr txBox="1"/>
          <p:nvPr/>
        </p:nvSpPr>
        <p:spPr>
          <a:xfrm>
            <a:off x="8869680" y="3200400"/>
            <a:ext cx="2560320" cy="2377440"/>
          </a:xfrm>
          <a:prstGeom prst="rect">
            <a:avLst/>
          </a:prstGeom>
          <a:noFill/>
          <a:ln/>
        </p:spPr>
        <p:txBody>
          <a:bodyPr wrap="square" lIns="0" tIns="0" rIns="0" bIns="0" rtlCol="0" anchor="t"/>
          <a:lstStyle/>
          <a:p>
            <a:pPr marL="0" indent="0">
              <a:buNone/>
            </a:pPr>
            <a:r>
              <a:rPr lang="en-US" sz="1600" dirty="0">
                <a:solidFill>
                  <a:schemeClr val="bg1"/>
                </a:solidFill>
              </a:rPr>
              <a:t>Provide an end-to-end workflow that combines image classification with explanation generation and visualization.</a:t>
            </a:r>
            <a:endParaRPr lang="en-US" sz="1600" dirty="0"/>
          </a:p>
        </p:txBody>
      </p:sp>
      <p:sp>
        <p:nvSpPr>
          <p:cNvPr id="28" name="Slide Number Placeholder 0"/>
          <p:cNvSpPr>
            <a:spLocks noGrp="1"/>
          </p:cNvSpPr>
          <p:nvPr>
            <p:ph type="sldNum" sz="quarter" idx="4294967295"/>
          </p:nvPr>
        </p:nvSpPr>
        <p:spPr>
          <a:xfrm>
            <a:off x="10972800" y="6382512"/>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buNone/>
            </a:pPr>
            <a:r>
              <a:rPr lang="en-US" sz="3200" b="1" dirty="0">
                <a:solidFill>
                  <a:schemeClr val="tx2"/>
                </a:solidFill>
              </a:rPr>
              <a:t>Low-Level Design and Methodology</a:t>
            </a:r>
            <a:endParaRPr lang="en-US" sz="3200" dirty="0"/>
          </a:p>
        </p:txBody>
      </p:sp>
      <p:sp>
        <p:nvSpPr>
          <p:cNvPr id="3" name="Step card 1"/>
          <p:cNvSpPr/>
          <p:nvPr/>
        </p:nvSpPr>
        <p:spPr>
          <a:xfrm>
            <a:off x="548640" y="1280160"/>
            <a:ext cx="2532888" cy="2331720"/>
          </a:xfrm>
          <a:prstGeom prst="roundRect">
            <a:avLst>
              <a:gd name="adj" fmla="val 3922"/>
            </a:avLst>
          </a:prstGeom>
          <a:solidFill>
            <a:schemeClr val="bg2"/>
          </a:solidFill>
          <a:ln/>
        </p:spPr>
        <p:txBody>
          <a:bodyPr/>
          <a:lstStyle/>
          <a:p>
            <a:endParaRPr lang="en-IN"/>
          </a:p>
        </p:txBody>
      </p:sp>
      <p:sp>
        <p:nvSpPr>
          <p:cNvPr id="4" name="Step number 1"/>
          <p:cNvSpPr txBox="1"/>
          <p:nvPr/>
        </p:nvSpPr>
        <p:spPr>
          <a:xfrm>
            <a:off x="731520" y="1463040"/>
            <a:ext cx="457200" cy="45720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5" name="Text 3"/>
          <p:cNvSpPr txBox="1"/>
          <p:nvPr/>
        </p:nvSpPr>
        <p:spPr>
          <a:xfrm>
            <a:off x="1325880" y="1389888"/>
            <a:ext cx="1618488" cy="603504"/>
          </a:xfrm>
          <a:prstGeom prst="rect">
            <a:avLst/>
          </a:prstGeom>
          <a:noFill/>
          <a:ln/>
        </p:spPr>
        <p:txBody>
          <a:bodyPr wrap="square" lIns="0" tIns="0" rIns="0" bIns="0" rtlCol="0" anchor="ctr"/>
          <a:lstStyle/>
          <a:p>
            <a:pPr marL="0" indent="0">
              <a:buNone/>
            </a:pPr>
            <a:r>
              <a:rPr lang="en-US" sz="1500" b="1" dirty="0">
                <a:solidFill>
                  <a:schemeClr val="tx2"/>
                </a:solidFill>
              </a:rPr>
              <a:t>Data Collection</a:t>
            </a:r>
            <a:endParaRPr lang="en-US" sz="1500" dirty="0"/>
          </a:p>
        </p:txBody>
      </p:sp>
      <p:sp>
        <p:nvSpPr>
          <p:cNvPr id="6" name="Text 4"/>
          <p:cNvSpPr txBox="1"/>
          <p:nvPr/>
        </p:nvSpPr>
        <p:spPr>
          <a:xfrm>
            <a:off x="731520" y="2121408"/>
            <a:ext cx="2167128" cy="1371600"/>
          </a:xfrm>
          <a:prstGeom prst="rect">
            <a:avLst/>
          </a:prstGeom>
          <a:noFill/>
          <a:ln/>
        </p:spPr>
        <p:txBody>
          <a:bodyPr wrap="square" lIns="0" tIns="0" rIns="0" bIns="0" rtlCol="0" anchor="t"/>
          <a:lstStyle/>
          <a:p>
            <a:pPr marL="203200" indent="-203200">
              <a:spcAft>
                <a:spcPts val="500"/>
              </a:spcAft>
              <a:buSzPct val="100000"/>
              <a:buChar char="•"/>
            </a:pPr>
            <a:r>
              <a:rPr lang="en-US" sz="1300" dirty="0">
                <a:solidFill>
                  <a:schemeClr val="tx1"/>
                </a:solidFill>
              </a:rPr>
              <a:t>Collect public medical image datasets</a:t>
            </a:r>
            <a:endParaRPr lang="en-US" sz="1300" dirty="0"/>
          </a:p>
          <a:p>
            <a:pPr marL="203200" indent="-203200">
              <a:spcAft>
                <a:spcPts val="500"/>
              </a:spcAft>
              <a:buSzPct val="100000"/>
              <a:buChar char="•"/>
            </a:pPr>
            <a:r>
              <a:rPr lang="en-US" sz="1300" dirty="0">
                <a:solidFill>
                  <a:schemeClr val="tx1"/>
                </a:solidFill>
              </a:rPr>
              <a:t>Chest X-rays as the central use case</a:t>
            </a:r>
            <a:endParaRPr lang="en-US" sz="1300" dirty="0"/>
          </a:p>
        </p:txBody>
      </p:sp>
      <p:sp>
        <p:nvSpPr>
          <p:cNvPr id="7" name="Step arrow"/>
          <p:cNvSpPr/>
          <p:nvPr/>
        </p:nvSpPr>
        <p:spPr>
          <a:xfrm>
            <a:off x="3118104" y="2286000"/>
            <a:ext cx="246888" cy="274320"/>
          </a:xfrm>
          <a:prstGeom prst="rightArrow">
            <a:avLst/>
          </a:prstGeom>
          <a:solidFill>
            <a:schemeClr val="accent5"/>
          </a:solidFill>
          <a:ln/>
        </p:spPr>
        <p:txBody>
          <a:bodyPr/>
          <a:lstStyle/>
          <a:p>
            <a:endParaRPr lang="en-IN"/>
          </a:p>
        </p:txBody>
      </p:sp>
      <p:sp>
        <p:nvSpPr>
          <p:cNvPr id="8" name="Step card 2"/>
          <p:cNvSpPr/>
          <p:nvPr/>
        </p:nvSpPr>
        <p:spPr>
          <a:xfrm>
            <a:off x="3401568" y="1280160"/>
            <a:ext cx="2532888" cy="2331720"/>
          </a:xfrm>
          <a:prstGeom prst="roundRect">
            <a:avLst>
              <a:gd name="adj" fmla="val 3922"/>
            </a:avLst>
          </a:prstGeom>
          <a:solidFill>
            <a:schemeClr val="bg2"/>
          </a:solidFill>
          <a:ln/>
        </p:spPr>
        <p:txBody>
          <a:bodyPr/>
          <a:lstStyle/>
          <a:p>
            <a:endParaRPr lang="en-IN"/>
          </a:p>
        </p:txBody>
      </p:sp>
      <p:sp>
        <p:nvSpPr>
          <p:cNvPr id="9" name="Step number 2"/>
          <p:cNvSpPr txBox="1"/>
          <p:nvPr/>
        </p:nvSpPr>
        <p:spPr>
          <a:xfrm>
            <a:off x="3584448" y="1463040"/>
            <a:ext cx="457200" cy="45720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0" name="Text 8"/>
          <p:cNvSpPr txBox="1"/>
          <p:nvPr/>
        </p:nvSpPr>
        <p:spPr>
          <a:xfrm>
            <a:off x="4178808" y="1389888"/>
            <a:ext cx="1618488" cy="603504"/>
          </a:xfrm>
          <a:prstGeom prst="rect">
            <a:avLst/>
          </a:prstGeom>
          <a:noFill/>
          <a:ln/>
        </p:spPr>
        <p:txBody>
          <a:bodyPr wrap="square" lIns="0" tIns="0" rIns="0" bIns="0" rtlCol="0" anchor="ctr"/>
          <a:lstStyle/>
          <a:p>
            <a:pPr marL="0" indent="0">
              <a:buNone/>
            </a:pPr>
            <a:r>
              <a:rPr lang="en-US" sz="1500" b="1" dirty="0">
                <a:solidFill>
                  <a:schemeClr val="tx2"/>
                </a:solidFill>
              </a:rPr>
              <a:t>Data Preprocessing</a:t>
            </a:r>
            <a:endParaRPr lang="en-US" sz="1500" dirty="0"/>
          </a:p>
        </p:txBody>
      </p:sp>
      <p:sp>
        <p:nvSpPr>
          <p:cNvPr id="11" name="Text 9"/>
          <p:cNvSpPr txBox="1"/>
          <p:nvPr/>
        </p:nvSpPr>
        <p:spPr>
          <a:xfrm>
            <a:off x="3584448" y="2121408"/>
            <a:ext cx="2167128" cy="1371600"/>
          </a:xfrm>
          <a:prstGeom prst="rect">
            <a:avLst/>
          </a:prstGeom>
          <a:noFill/>
          <a:ln/>
        </p:spPr>
        <p:txBody>
          <a:bodyPr wrap="square" lIns="0" tIns="0" rIns="0" bIns="0" rtlCol="0" anchor="t"/>
          <a:lstStyle/>
          <a:p>
            <a:pPr marL="203200" indent="-203200">
              <a:spcAft>
                <a:spcPts val="500"/>
              </a:spcAft>
              <a:buSzPct val="100000"/>
              <a:buChar char="•"/>
            </a:pPr>
            <a:r>
              <a:rPr lang="en-US" sz="1300" dirty="0">
                <a:solidFill>
                  <a:schemeClr val="tx1"/>
                </a:solidFill>
              </a:rPr>
              <a:t>Check corrupted and duplicate images</a:t>
            </a:r>
            <a:endParaRPr lang="en-US" sz="1300" dirty="0"/>
          </a:p>
          <a:p>
            <a:pPr marL="203200" indent="-203200">
              <a:spcAft>
                <a:spcPts val="500"/>
              </a:spcAft>
              <a:buSzPct val="100000"/>
              <a:buChar char="•"/>
            </a:pPr>
            <a:r>
              <a:rPr lang="en-US" sz="1300" dirty="0">
                <a:solidFill>
                  <a:schemeClr val="tx1"/>
                </a:solidFill>
              </a:rPr>
              <a:t>Convert to a standard format</a:t>
            </a:r>
            <a:endParaRPr lang="en-US" sz="1300" dirty="0"/>
          </a:p>
          <a:p>
            <a:pPr marL="203200" indent="-203200">
              <a:spcAft>
                <a:spcPts val="500"/>
              </a:spcAft>
              <a:buSzPct val="100000"/>
              <a:buChar char="•"/>
            </a:pPr>
            <a:r>
              <a:rPr lang="en-US" sz="1300" dirty="0">
                <a:solidFill>
                  <a:schemeClr val="tx1"/>
                </a:solidFill>
              </a:rPr>
              <a:t>Resize and normalize</a:t>
            </a:r>
            <a:endParaRPr lang="en-US" sz="1300" dirty="0"/>
          </a:p>
        </p:txBody>
      </p:sp>
      <p:sp>
        <p:nvSpPr>
          <p:cNvPr id="12" name="Step arrow"/>
          <p:cNvSpPr/>
          <p:nvPr/>
        </p:nvSpPr>
        <p:spPr>
          <a:xfrm>
            <a:off x="5971032" y="2286000"/>
            <a:ext cx="246888" cy="274320"/>
          </a:xfrm>
          <a:prstGeom prst="rightArrow">
            <a:avLst/>
          </a:prstGeom>
          <a:solidFill>
            <a:schemeClr val="accent5"/>
          </a:solidFill>
          <a:ln/>
        </p:spPr>
        <p:txBody>
          <a:bodyPr/>
          <a:lstStyle/>
          <a:p>
            <a:endParaRPr lang="en-IN"/>
          </a:p>
        </p:txBody>
      </p:sp>
      <p:sp>
        <p:nvSpPr>
          <p:cNvPr id="13" name="Step card 3"/>
          <p:cNvSpPr/>
          <p:nvPr/>
        </p:nvSpPr>
        <p:spPr>
          <a:xfrm>
            <a:off x="6254496" y="1280160"/>
            <a:ext cx="2532888" cy="2331720"/>
          </a:xfrm>
          <a:prstGeom prst="roundRect">
            <a:avLst>
              <a:gd name="adj" fmla="val 3922"/>
            </a:avLst>
          </a:prstGeom>
          <a:solidFill>
            <a:schemeClr val="bg2"/>
          </a:solidFill>
          <a:ln/>
        </p:spPr>
        <p:txBody>
          <a:bodyPr/>
          <a:lstStyle/>
          <a:p>
            <a:endParaRPr lang="en-IN"/>
          </a:p>
        </p:txBody>
      </p:sp>
      <p:sp>
        <p:nvSpPr>
          <p:cNvPr id="14" name="Step number 3"/>
          <p:cNvSpPr txBox="1"/>
          <p:nvPr/>
        </p:nvSpPr>
        <p:spPr>
          <a:xfrm>
            <a:off x="6437376" y="1463040"/>
            <a:ext cx="457200" cy="45720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5" name="Text 13"/>
          <p:cNvSpPr txBox="1"/>
          <p:nvPr/>
        </p:nvSpPr>
        <p:spPr>
          <a:xfrm>
            <a:off x="7031736" y="1389888"/>
            <a:ext cx="1618488" cy="603504"/>
          </a:xfrm>
          <a:prstGeom prst="rect">
            <a:avLst/>
          </a:prstGeom>
          <a:noFill/>
          <a:ln/>
        </p:spPr>
        <p:txBody>
          <a:bodyPr wrap="square" lIns="0" tIns="0" rIns="0" bIns="0" rtlCol="0" anchor="ctr"/>
          <a:lstStyle/>
          <a:p>
            <a:pPr marL="0" indent="0">
              <a:buNone/>
            </a:pPr>
            <a:r>
              <a:rPr lang="en-US" sz="1500" b="1" dirty="0">
                <a:solidFill>
                  <a:schemeClr val="tx2"/>
                </a:solidFill>
              </a:rPr>
              <a:t>Data Augmentation</a:t>
            </a:r>
            <a:endParaRPr lang="en-US" sz="1500" dirty="0"/>
          </a:p>
        </p:txBody>
      </p:sp>
      <p:sp>
        <p:nvSpPr>
          <p:cNvPr id="16" name="Text 14"/>
          <p:cNvSpPr txBox="1"/>
          <p:nvPr/>
        </p:nvSpPr>
        <p:spPr>
          <a:xfrm>
            <a:off x="6437376" y="2121408"/>
            <a:ext cx="2167128" cy="1371600"/>
          </a:xfrm>
          <a:prstGeom prst="rect">
            <a:avLst/>
          </a:prstGeom>
          <a:noFill/>
          <a:ln/>
        </p:spPr>
        <p:txBody>
          <a:bodyPr wrap="square" lIns="0" tIns="0" rIns="0" bIns="0" rtlCol="0" anchor="t"/>
          <a:lstStyle/>
          <a:p>
            <a:pPr marL="203200" indent="-203200">
              <a:spcAft>
                <a:spcPts val="500"/>
              </a:spcAft>
              <a:buSzPct val="100000"/>
              <a:buChar char="•"/>
            </a:pPr>
            <a:r>
              <a:rPr lang="en-US" sz="1300" dirty="0">
                <a:solidFill>
                  <a:schemeClr val="tx1"/>
                </a:solidFill>
              </a:rPr>
              <a:t>Medically appropriate transformations: rotation, zooming, flipping, contrast adjustment</a:t>
            </a:r>
            <a:endParaRPr lang="en-US" sz="1300" dirty="0"/>
          </a:p>
        </p:txBody>
      </p:sp>
      <p:sp>
        <p:nvSpPr>
          <p:cNvPr id="17" name="Step arrow"/>
          <p:cNvSpPr/>
          <p:nvPr/>
        </p:nvSpPr>
        <p:spPr>
          <a:xfrm>
            <a:off x="8823960" y="2286000"/>
            <a:ext cx="246888" cy="274320"/>
          </a:xfrm>
          <a:prstGeom prst="rightArrow">
            <a:avLst/>
          </a:prstGeom>
          <a:solidFill>
            <a:schemeClr val="accent5"/>
          </a:solidFill>
          <a:ln/>
        </p:spPr>
        <p:txBody>
          <a:bodyPr/>
          <a:lstStyle/>
          <a:p>
            <a:endParaRPr lang="en-IN"/>
          </a:p>
        </p:txBody>
      </p:sp>
      <p:sp>
        <p:nvSpPr>
          <p:cNvPr id="18" name="Step card 4"/>
          <p:cNvSpPr/>
          <p:nvPr/>
        </p:nvSpPr>
        <p:spPr>
          <a:xfrm>
            <a:off x="9107424" y="1280160"/>
            <a:ext cx="2532888" cy="2331720"/>
          </a:xfrm>
          <a:prstGeom prst="roundRect">
            <a:avLst>
              <a:gd name="adj" fmla="val 3922"/>
            </a:avLst>
          </a:prstGeom>
          <a:solidFill>
            <a:schemeClr val="bg2"/>
          </a:solidFill>
          <a:ln/>
        </p:spPr>
        <p:txBody>
          <a:bodyPr/>
          <a:lstStyle/>
          <a:p>
            <a:endParaRPr lang="en-IN"/>
          </a:p>
        </p:txBody>
      </p:sp>
      <p:sp>
        <p:nvSpPr>
          <p:cNvPr id="19" name="Step number 4"/>
          <p:cNvSpPr txBox="1"/>
          <p:nvPr/>
        </p:nvSpPr>
        <p:spPr>
          <a:xfrm>
            <a:off x="9290304" y="1463040"/>
            <a:ext cx="457200" cy="45720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20" name="Text 18"/>
          <p:cNvSpPr txBox="1"/>
          <p:nvPr/>
        </p:nvSpPr>
        <p:spPr>
          <a:xfrm>
            <a:off x="9884664" y="1389888"/>
            <a:ext cx="1618488" cy="603504"/>
          </a:xfrm>
          <a:prstGeom prst="rect">
            <a:avLst/>
          </a:prstGeom>
          <a:noFill/>
          <a:ln/>
        </p:spPr>
        <p:txBody>
          <a:bodyPr wrap="square" lIns="0" tIns="0" rIns="0" bIns="0" rtlCol="0" anchor="ctr"/>
          <a:lstStyle/>
          <a:p>
            <a:pPr marL="0" indent="0">
              <a:buNone/>
            </a:pPr>
            <a:r>
              <a:rPr lang="en-US" sz="1500" b="1" dirty="0">
                <a:solidFill>
                  <a:schemeClr val="tx2"/>
                </a:solidFill>
              </a:rPr>
              <a:t>Model Development</a:t>
            </a:r>
            <a:endParaRPr lang="en-US" sz="1500" dirty="0"/>
          </a:p>
        </p:txBody>
      </p:sp>
      <p:sp>
        <p:nvSpPr>
          <p:cNvPr id="21" name="Text 19"/>
          <p:cNvSpPr txBox="1"/>
          <p:nvPr/>
        </p:nvSpPr>
        <p:spPr>
          <a:xfrm>
            <a:off x="9290304" y="2121408"/>
            <a:ext cx="2167128" cy="1371600"/>
          </a:xfrm>
          <a:prstGeom prst="rect">
            <a:avLst/>
          </a:prstGeom>
          <a:noFill/>
          <a:ln/>
        </p:spPr>
        <p:txBody>
          <a:bodyPr wrap="square" lIns="0" tIns="0" rIns="0" bIns="0" rtlCol="0" anchor="t"/>
          <a:lstStyle/>
          <a:p>
            <a:pPr marL="203200" indent="-203200">
              <a:spcAft>
                <a:spcPts val="500"/>
              </a:spcAft>
              <a:buSzPct val="100000"/>
              <a:buChar char="•"/>
            </a:pPr>
            <a:r>
              <a:rPr lang="en-US" sz="1300" dirty="0">
                <a:solidFill>
                  <a:schemeClr val="tx1"/>
                </a:solidFill>
              </a:rPr>
              <a:t>Training CNN Model</a:t>
            </a:r>
          </a:p>
          <a:p>
            <a:pPr marL="203200" indent="-203200">
              <a:spcAft>
                <a:spcPts val="500"/>
              </a:spcAft>
              <a:buSzPct val="100000"/>
              <a:buChar char="•"/>
            </a:pPr>
            <a:r>
              <a:rPr lang="en-US" sz="1300" dirty="0">
                <a:solidFill>
                  <a:schemeClr val="tx1"/>
                </a:solidFill>
              </a:rPr>
              <a:t>Pretrained ResNet50</a:t>
            </a:r>
            <a:endParaRPr lang="en-US" sz="1300" dirty="0"/>
          </a:p>
          <a:p>
            <a:pPr marL="203200" indent="-203200">
              <a:spcAft>
                <a:spcPts val="500"/>
              </a:spcAft>
              <a:buSzPct val="100000"/>
              <a:buChar char="•"/>
            </a:pPr>
            <a:r>
              <a:rPr lang="en-US" sz="1300" dirty="0">
                <a:solidFill>
                  <a:schemeClr val="tx1"/>
                </a:solidFill>
              </a:rPr>
              <a:t>Adapt classification layer to the task</a:t>
            </a:r>
            <a:endParaRPr lang="en-US" sz="1300" dirty="0"/>
          </a:p>
        </p:txBody>
      </p:sp>
      <p:sp>
        <p:nvSpPr>
          <p:cNvPr id="22" name="Step card 5"/>
          <p:cNvSpPr/>
          <p:nvPr/>
        </p:nvSpPr>
        <p:spPr>
          <a:xfrm>
            <a:off x="548640" y="3840480"/>
            <a:ext cx="2532888" cy="2331720"/>
          </a:xfrm>
          <a:prstGeom prst="roundRect">
            <a:avLst>
              <a:gd name="adj" fmla="val 3922"/>
            </a:avLst>
          </a:prstGeom>
          <a:solidFill>
            <a:schemeClr val="bg2"/>
          </a:solidFill>
          <a:ln/>
        </p:spPr>
        <p:txBody>
          <a:bodyPr/>
          <a:lstStyle/>
          <a:p>
            <a:endParaRPr lang="en-IN"/>
          </a:p>
        </p:txBody>
      </p:sp>
      <p:sp>
        <p:nvSpPr>
          <p:cNvPr id="23" name="Step number 5"/>
          <p:cNvSpPr txBox="1"/>
          <p:nvPr/>
        </p:nvSpPr>
        <p:spPr>
          <a:xfrm>
            <a:off x="731520" y="4023360"/>
            <a:ext cx="457200" cy="45720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24" name="Text 22"/>
          <p:cNvSpPr txBox="1"/>
          <p:nvPr/>
        </p:nvSpPr>
        <p:spPr>
          <a:xfrm>
            <a:off x="1325880" y="3950208"/>
            <a:ext cx="1618488" cy="603504"/>
          </a:xfrm>
          <a:prstGeom prst="rect">
            <a:avLst/>
          </a:prstGeom>
          <a:noFill/>
          <a:ln/>
        </p:spPr>
        <p:txBody>
          <a:bodyPr wrap="square" lIns="0" tIns="0" rIns="0" bIns="0" rtlCol="0" anchor="ctr"/>
          <a:lstStyle/>
          <a:p>
            <a:pPr marL="0" indent="0">
              <a:buNone/>
            </a:pPr>
            <a:r>
              <a:rPr lang="en-US" sz="1500" b="1" dirty="0">
                <a:solidFill>
                  <a:schemeClr val="tx2"/>
                </a:solidFill>
              </a:rPr>
              <a:t>Model Training</a:t>
            </a:r>
            <a:endParaRPr lang="en-US" sz="1500" dirty="0"/>
          </a:p>
        </p:txBody>
      </p:sp>
      <p:sp>
        <p:nvSpPr>
          <p:cNvPr id="25" name="Text 23"/>
          <p:cNvSpPr txBox="1"/>
          <p:nvPr/>
        </p:nvSpPr>
        <p:spPr>
          <a:xfrm>
            <a:off x="731520" y="4681728"/>
            <a:ext cx="2167128" cy="1371600"/>
          </a:xfrm>
          <a:prstGeom prst="rect">
            <a:avLst/>
          </a:prstGeom>
          <a:noFill/>
          <a:ln/>
        </p:spPr>
        <p:txBody>
          <a:bodyPr wrap="square" lIns="0" tIns="0" rIns="0" bIns="0" rtlCol="0" anchor="t"/>
          <a:lstStyle/>
          <a:p>
            <a:pPr marL="203200" indent="-203200">
              <a:spcAft>
                <a:spcPts val="500"/>
              </a:spcAft>
              <a:buSzPct val="100000"/>
              <a:buChar char="•"/>
            </a:pPr>
            <a:r>
              <a:rPr lang="en-US" sz="1300" dirty="0">
                <a:solidFill>
                  <a:schemeClr val="tx1"/>
                </a:solidFill>
              </a:rPr>
              <a:t>Categorical cross-entropy loss</a:t>
            </a:r>
            <a:endParaRPr lang="en-US" sz="1300" dirty="0"/>
          </a:p>
          <a:p>
            <a:pPr marL="203200" indent="-203200">
              <a:spcAft>
                <a:spcPts val="500"/>
              </a:spcAft>
              <a:buSzPct val="100000"/>
              <a:buChar char="•"/>
            </a:pPr>
            <a:r>
              <a:rPr lang="en-US" sz="1300" dirty="0">
                <a:solidFill>
                  <a:schemeClr val="tx1"/>
                </a:solidFill>
              </a:rPr>
              <a:t>Dropout, learning-rate reduction, model checkpointing</a:t>
            </a:r>
            <a:endParaRPr lang="en-US" sz="1300" dirty="0"/>
          </a:p>
        </p:txBody>
      </p:sp>
      <p:sp>
        <p:nvSpPr>
          <p:cNvPr id="26" name="Step arrow"/>
          <p:cNvSpPr/>
          <p:nvPr/>
        </p:nvSpPr>
        <p:spPr>
          <a:xfrm>
            <a:off x="3118104" y="4846320"/>
            <a:ext cx="246888" cy="274320"/>
          </a:xfrm>
          <a:prstGeom prst="rightArrow">
            <a:avLst/>
          </a:prstGeom>
          <a:solidFill>
            <a:schemeClr val="accent5"/>
          </a:solidFill>
          <a:ln/>
        </p:spPr>
        <p:txBody>
          <a:bodyPr/>
          <a:lstStyle/>
          <a:p>
            <a:endParaRPr lang="en-IN"/>
          </a:p>
        </p:txBody>
      </p:sp>
      <p:sp>
        <p:nvSpPr>
          <p:cNvPr id="27" name="Step card 6"/>
          <p:cNvSpPr/>
          <p:nvPr/>
        </p:nvSpPr>
        <p:spPr>
          <a:xfrm>
            <a:off x="3401568" y="3840480"/>
            <a:ext cx="2532888" cy="2331720"/>
          </a:xfrm>
          <a:prstGeom prst="roundRect">
            <a:avLst>
              <a:gd name="adj" fmla="val 3922"/>
            </a:avLst>
          </a:prstGeom>
          <a:solidFill>
            <a:schemeClr val="bg2"/>
          </a:solidFill>
          <a:ln/>
        </p:spPr>
        <p:txBody>
          <a:bodyPr/>
          <a:lstStyle/>
          <a:p>
            <a:endParaRPr lang="en-IN"/>
          </a:p>
        </p:txBody>
      </p:sp>
      <p:sp>
        <p:nvSpPr>
          <p:cNvPr id="28" name="Step number 6"/>
          <p:cNvSpPr txBox="1"/>
          <p:nvPr/>
        </p:nvSpPr>
        <p:spPr>
          <a:xfrm>
            <a:off x="3584448" y="4023360"/>
            <a:ext cx="457200" cy="45720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6</a:t>
            </a:r>
            <a:endParaRPr lang="en-US" sz="1600" dirty="0"/>
          </a:p>
        </p:txBody>
      </p:sp>
      <p:sp>
        <p:nvSpPr>
          <p:cNvPr id="29" name="Text 27"/>
          <p:cNvSpPr txBox="1"/>
          <p:nvPr/>
        </p:nvSpPr>
        <p:spPr>
          <a:xfrm>
            <a:off x="4178808" y="3950208"/>
            <a:ext cx="1618488" cy="603504"/>
          </a:xfrm>
          <a:prstGeom prst="rect">
            <a:avLst/>
          </a:prstGeom>
          <a:noFill/>
          <a:ln/>
        </p:spPr>
        <p:txBody>
          <a:bodyPr wrap="square" lIns="0" tIns="0" rIns="0" bIns="0" rtlCol="0" anchor="ctr"/>
          <a:lstStyle/>
          <a:p>
            <a:pPr marL="0" indent="0">
              <a:buNone/>
            </a:pPr>
            <a:r>
              <a:rPr lang="en-US" sz="1500" b="1" dirty="0">
                <a:solidFill>
                  <a:schemeClr val="tx2"/>
                </a:solidFill>
              </a:rPr>
              <a:t>Explanation Generation</a:t>
            </a:r>
            <a:endParaRPr lang="en-US" sz="1500" dirty="0"/>
          </a:p>
        </p:txBody>
      </p:sp>
      <p:sp>
        <p:nvSpPr>
          <p:cNvPr id="30" name="Text 28"/>
          <p:cNvSpPr txBox="1"/>
          <p:nvPr/>
        </p:nvSpPr>
        <p:spPr>
          <a:xfrm>
            <a:off x="3584448" y="4681728"/>
            <a:ext cx="2167128" cy="1371600"/>
          </a:xfrm>
          <a:prstGeom prst="rect">
            <a:avLst/>
          </a:prstGeom>
          <a:noFill/>
          <a:ln/>
        </p:spPr>
        <p:txBody>
          <a:bodyPr wrap="square" lIns="0" tIns="0" rIns="0" bIns="0" rtlCol="0" anchor="t"/>
          <a:lstStyle/>
          <a:p>
            <a:pPr marL="203200" indent="-203200">
              <a:spcAft>
                <a:spcPts val="500"/>
              </a:spcAft>
              <a:buSzPct val="100000"/>
              <a:buChar char="•"/>
            </a:pPr>
            <a:r>
              <a:rPr lang="en-US" sz="1300" dirty="0">
                <a:solidFill>
                  <a:schemeClr val="tx1"/>
                </a:solidFill>
              </a:rPr>
              <a:t>Grad-CAM heatmaps</a:t>
            </a:r>
            <a:endParaRPr lang="en-US" sz="1300" dirty="0"/>
          </a:p>
          <a:p>
            <a:pPr marL="203200" indent="-203200">
              <a:spcAft>
                <a:spcPts val="500"/>
              </a:spcAft>
              <a:buSzPct val="100000"/>
              <a:buChar char="•"/>
            </a:pPr>
            <a:r>
              <a:rPr lang="en-US" sz="1300" dirty="0">
                <a:solidFill>
                  <a:schemeClr val="tx1"/>
                </a:solidFill>
              </a:rPr>
              <a:t>SHAP feature-contribution explanations</a:t>
            </a:r>
          </a:p>
          <a:p>
            <a:pPr>
              <a:spcAft>
                <a:spcPts val="500"/>
              </a:spcAft>
              <a:buSzPct val="100000"/>
            </a:pPr>
            <a:endParaRPr lang="en-US" sz="1300" dirty="0"/>
          </a:p>
          <a:p>
            <a:pPr>
              <a:spcAft>
                <a:spcPts val="500"/>
              </a:spcAft>
              <a:buSzPct val="100000"/>
            </a:pPr>
            <a:endParaRPr lang="en-US" sz="1300" dirty="0"/>
          </a:p>
        </p:txBody>
      </p:sp>
      <p:sp>
        <p:nvSpPr>
          <p:cNvPr id="31" name="Step arrow"/>
          <p:cNvSpPr/>
          <p:nvPr/>
        </p:nvSpPr>
        <p:spPr>
          <a:xfrm>
            <a:off x="5971032" y="4846320"/>
            <a:ext cx="246888" cy="274320"/>
          </a:xfrm>
          <a:prstGeom prst="rightArrow">
            <a:avLst/>
          </a:prstGeom>
          <a:solidFill>
            <a:schemeClr val="accent5"/>
          </a:solidFill>
          <a:ln/>
        </p:spPr>
        <p:txBody>
          <a:bodyPr/>
          <a:lstStyle/>
          <a:p>
            <a:endParaRPr lang="en-IN"/>
          </a:p>
        </p:txBody>
      </p:sp>
      <p:sp>
        <p:nvSpPr>
          <p:cNvPr id="32" name="Step card 7"/>
          <p:cNvSpPr/>
          <p:nvPr/>
        </p:nvSpPr>
        <p:spPr>
          <a:xfrm>
            <a:off x="6254496" y="3840480"/>
            <a:ext cx="2532888" cy="2331720"/>
          </a:xfrm>
          <a:prstGeom prst="roundRect">
            <a:avLst>
              <a:gd name="adj" fmla="val 3922"/>
            </a:avLst>
          </a:prstGeom>
          <a:solidFill>
            <a:schemeClr val="bg2"/>
          </a:solidFill>
          <a:ln/>
        </p:spPr>
        <p:txBody>
          <a:bodyPr/>
          <a:lstStyle/>
          <a:p>
            <a:endParaRPr lang="en-IN"/>
          </a:p>
        </p:txBody>
      </p:sp>
      <p:sp>
        <p:nvSpPr>
          <p:cNvPr id="33" name="Step number 7"/>
          <p:cNvSpPr txBox="1"/>
          <p:nvPr/>
        </p:nvSpPr>
        <p:spPr>
          <a:xfrm>
            <a:off x="6437376" y="4023360"/>
            <a:ext cx="457200" cy="45720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7</a:t>
            </a:r>
            <a:endParaRPr lang="en-US" sz="1600" dirty="0"/>
          </a:p>
        </p:txBody>
      </p:sp>
      <p:sp>
        <p:nvSpPr>
          <p:cNvPr id="34" name="Text 32"/>
          <p:cNvSpPr txBox="1"/>
          <p:nvPr/>
        </p:nvSpPr>
        <p:spPr>
          <a:xfrm>
            <a:off x="7031736" y="3950208"/>
            <a:ext cx="1618488" cy="603504"/>
          </a:xfrm>
          <a:prstGeom prst="rect">
            <a:avLst/>
          </a:prstGeom>
          <a:noFill/>
          <a:ln/>
        </p:spPr>
        <p:txBody>
          <a:bodyPr wrap="square" lIns="0" tIns="0" rIns="0" bIns="0" rtlCol="0" anchor="ctr"/>
          <a:lstStyle/>
          <a:p>
            <a:pPr marL="0" indent="0">
              <a:buNone/>
            </a:pPr>
            <a:r>
              <a:rPr lang="en-US" sz="1500" b="1" dirty="0">
                <a:solidFill>
                  <a:schemeClr val="tx2"/>
                </a:solidFill>
              </a:rPr>
              <a:t>Analysis and Evaluation</a:t>
            </a:r>
            <a:endParaRPr lang="en-US" sz="1500" dirty="0"/>
          </a:p>
        </p:txBody>
      </p:sp>
      <p:sp>
        <p:nvSpPr>
          <p:cNvPr id="35" name="Text 33"/>
          <p:cNvSpPr txBox="1"/>
          <p:nvPr/>
        </p:nvSpPr>
        <p:spPr>
          <a:xfrm>
            <a:off x="6437376" y="4681728"/>
            <a:ext cx="2167128" cy="1371600"/>
          </a:xfrm>
          <a:prstGeom prst="rect">
            <a:avLst/>
          </a:prstGeom>
          <a:noFill/>
          <a:ln/>
        </p:spPr>
        <p:txBody>
          <a:bodyPr wrap="square" lIns="0" tIns="0" rIns="0" bIns="0" rtlCol="0" anchor="t"/>
          <a:lstStyle/>
          <a:p>
            <a:pPr marL="203200" indent="-203200">
              <a:spcAft>
                <a:spcPts val="500"/>
              </a:spcAft>
              <a:buSzPct val="100000"/>
              <a:buChar char="•"/>
            </a:pPr>
            <a:r>
              <a:rPr lang="en-US" sz="1300" dirty="0">
                <a:solidFill>
                  <a:schemeClr val="tx1"/>
                </a:solidFill>
              </a:rPr>
              <a:t>Check whether highlighted regions are relevant or misleading</a:t>
            </a:r>
            <a:endParaRPr lang="en-US" sz="1300" dirty="0"/>
          </a:p>
          <a:p>
            <a:pPr marL="203200" indent="-203200">
              <a:spcAft>
                <a:spcPts val="500"/>
              </a:spcAft>
              <a:buSzPct val="100000"/>
              <a:buChar char="•"/>
            </a:pPr>
            <a:r>
              <a:rPr lang="en-US" sz="1300" dirty="0">
                <a:solidFill>
                  <a:schemeClr val="tx1"/>
                </a:solidFill>
              </a:rPr>
              <a:t>Accuracy, Precision, Recall, F1-score</a:t>
            </a:r>
            <a:endParaRPr lang="en-US" sz="1300" dirty="0"/>
          </a:p>
          <a:p>
            <a:pPr marL="203200" indent="-203200">
              <a:spcAft>
                <a:spcPts val="500"/>
              </a:spcAft>
              <a:buSzPct val="100000"/>
              <a:buChar char="•"/>
            </a:pPr>
            <a:r>
              <a:rPr lang="en-US" sz="1300" dirty="0">
                <a:solidFill>
                  <a:schemeClr val="tx1"/>
                </a:solidFill>
              </a:rPr>
              <a:t>Confusion Matrix</a:t>
            </a:r>
            <a:endParaRPr lang="en-US" sz="1300" dirty="0"/>
          </a:p>
        </p:txBody>
      </p:sp>
      <p:sp>
        <p:nvSpPr>
          <p:cNvPr id="36" name="Step arrow"/>
          <p:cNvSpPr/>
          <p:nvPr/>
        </p:nvSpPr>
        <p:spPr>
          <a:xfrm>
            <a:off x="8823960" y="4846320"/>
            <a:ext cx="246888" cy="274320"/>
          </a:xfrm>
          <a:prstGeom prst="rightArrow">
            <a:avLst/>
          </a:prstGeom>
          <a:solidFill>
            <a:schemeClr val="accent5"/>
          </a:solidFill>
          <a:ln/>
        </p:spPr>
        <p:txBody>
          <a:bodyPr/>
          <a:lstStyle/>
          <a:p>
            <a:endParaRPr lang="en-IN"/>
          </a:p>
        </p:txBody>
      </p:sp>
      <p:sp>
        <p:nvSpPr>
          <p:cNvPr id="37" name="Step card 8"/>
          <p:cNvSpPr/>
          <p:nvPr/>
        </p:nvSpPr>
        <p:spPr>
          <a:xfrm>
            <a:off x="9107424" y="3840480"/>
            <a:ext cx="2532888" cy="2331720"/>
          </a:xfrm>
          <a:prstGeom prst="roundRect">
            <a:avLst>
              <a:gd name="adj" fmla="val 3922"/>
            </a:avLst>
          </a:prstGeom>
          <a:solidFill>
            <a:schemeClr val="bg2"/>
          </a:solidFill>
          <a:ln/>
        </p:spPr>
        <p:txBody>
          <a:bodyPr/>
          <a:lstStyle/>
          <a:p>
            <a:endParaRPr lang="en-IN"/>
          </a:p>
        </p:txBody>
      </p:sp>
      <p:sp>
        <p:nvSpPr>
          <p:cNvPr id="38" name="Step number 8"/>
          <p:cNvSpPr txBox="1"/>
          <p:nvPr/>
        </p:nvSpPr>
        <p:spPr>
          <a:xfrm>
            <a:off x="9290304" y="4023360"/>
            <a:ext cx="457200" cy="45720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8</a:t>
            </a:r>
            <a:endParaRPr lang="en-US" sz="1600" dirty="0"/>
          </a:p>
        </p:txBody>
      </p:sp>
      <p:sp>
        <p:nvSpPr>
          <p:cNvPr id="39" name="Text 37"/>
          <p:cNvSpPr txBox="1"/>
          <p:nvPr/>
        </p:nvSpPr>
        <p:spPr>
          <a:xfrm>
            <a:off x="9884664" y="3950208"/>
            <a:ext cx="1618488" cy="603504"/>
          </a:xfrm>
          <a:prstGeom prst="rect">
            <a:avLst/>
          </a:prstGeom>
          <a:noFill/>
          <a:ln/>
        </p:spPr>
        <p:txBody>
          <a:bodyPr wrap="square" lIns="0" tIns="0" rIns="0" bIns="0" rtlCol="0" anchor="ctr"/>
          <a:lstStyle/>
          <a:p>
            <a:pPr marL="0" indent="0">
              <a:buNone/>
            </a:pPr>
            <a:r>
              <a:rPr lang="en-US" sz="1500" b="1" dirty="0">
                <a:solidFill>
                  <a:schemeClr val="tx2"/>
                </a:solidFill>
              </a:rPr>
              <a:t>Deployment</a:t>
            </a:r>
            <a:endParaRPr lang="en-US" sz="1500" dirty="0"/>
          </a:p>
        </p:txBody>
      </p:sp>
      <p:sp>
        <p:nvSpPr>
          <p:cNvPr id="40" name="Text 38"/>
          <p:cNvSpPr txBox="1"/>
          <p:nvPr/>
        </p:nvSpPr>
        <p:spPr>
          <a:xfrm>
            <a:off x="9290304" y="4681728"/>
            <a:ext cx="2167128" cy="1371600"/>
          </a:xfrm>
          <a:prstGeom prst="rect">
            <a:avLst/>
          </a:prstGeom>
          <a:noFill/>
          <a:ln/>
        </p:spPr>
        <p:txBody>
          <a:bodyPr wrap="square" lIns="0" tIns="0" rIns="0" bIns="0" rtlCol="0" anchor="t"/>
          <a:lstStyle/>
          <a:p>
            <a:pPr marL="203200" indent="-203200">
              <a:spcAft>
                <a:spcPts val="500"/>
              </a:spcAft>
              <a:buSzPct val="100000"/>
              <a:buChar char="•"/>
            </a:pPr>
            <a:r>
              <a:rPr lang="en-US" sz="1300" dirty="0">
                <a:solidFill>
                  <a:schemeClr val="tx1"/>
                </a:solidFill>
              </a:rPr>
              <a:t>Integrate the trained model and explanation pipeline into a Streamlit application</a:t>
            </a:r>
            <a:endParaRPr lang="en-US" sz="1300" dirty="0"/>
          </a:p>
        </p:txBody>
      </p:sp>
      <p:sp>
        <p:nvSpPr>
          <p:cNvPr id="41" name="Slide Number Placeholder 0"/>
          <p:cNvSpPr>
            <a:spLocks noGrp="1"/>
          </p:cNvSpPr>
          <p:nvPr>
            <p:ph type="sldNum" sz="quarter" idx="4294967295"/>
          </p:nvPr>
        </p:nvSpPr>
        <p:spPr>
          <a:xfrm>
            <a:off x="10972800" y="6382512"/>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buNone/>
            </a:pPr>
            <a:r>
              <a:rPr lang="en-US" sz="3200" b="1" dirty="0">
                <a:solidFill>
                  <a:schemeClr val="tx2"/>
                </a:solidFill>
              </a:rPr>
              <a:t>Algorithms and Technology Stack</a:t>
            </a:r>
            <a:endParaRPr lang="en-US" sz="3200" dirty="0"/>
          </a:p>
        </p:txBody>
      </p:sp>
      <p:sp>
        <p:nvSpPr>
          <p:cNvPr id="3" name="Text 1"/>
          <p:cNvSpPr txBox="1"/>
          <p:nvPr/>
        </p:nvSpPr>
        <p:spPr>
          <a:xfrm>
            <a:off x="548640" y="1280160"/>
            <a:ext cx="5486400" cy="365760"/>
          </a:xfrm>
          <a:prstGeom prst="rect">
            <a:avLst/>
          </a:prstGeom>
          <a:noFill/>
          <a:ln/>
        </p:spPr>
        <p:txBody>
          <a:bodyPr wrap="square" lIns="0" tIns="0" rIns="0" bIns="0" rtlCol="0" anchor="ctr"/>
          <a:lstStyle/>
          <a:p>
            <a:pPr marL="0" indent="0">
              <a:buNone/>
            </a:pPr>
            <a:r>
              <a:rPr lang="en-US" sz="1800" b="1" dirty="0">
                <a:solidFill>
                  <a:schemeClr val="accent1"/>
                </a:solidFill>
              </a:rPr>
              <a:t>Algorithms and Techniques</a:t>
            </a:r>
            <a:endParaRPr lang="en-US" sz="1800" dirty="0"/>
          </a:p>
        </p:txBody>
      </p:sp>
      <p:graphicFrame>
        <p:nvGraphicFramePr>
          <p:cNvPr id="10" name="Algorithms table"/>
          <p:cNvGraphicFramePr>
            <a:graphicFrameLocks noGrp="1"/>
          </p:cNvGraphicFramePr>
          <p:nvPr>
            <p:extLst>
              <p:ext uri="{D42A27DB-BD31-4B8C-83A1-F6EECF244321}">
                <p14:modId xmlns:p14="http://schemas.microsoft.com/office/powerpoint/2010/main" val="2889889987"/>
              </p:ext>
            </p:extLst>
          </p:nvPr>
        </p:nvGraphicFramePr>
        <p:xfrm>
          <a:off x="548640" y="1737360"/>
          <a:ext cx="5486400" cy="3145536"/>
        </p:xfrm>
        <a:graphic>
          <a:graphicData uri="http://schemas.openxmlformats.org/drawingml/2006/table">
            <a:tbl>
              <a:tblPr/>
              <a:tblGrid>
                <a:gridCol w="246888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tblGrid>
              <a:tr h="393192">
                <a:tc>
                  <a:txBody>
                    <a:bodyPr/>
                    <a:lstStyle/>
                    <a:p>
                      <a:pPr marL="0" indent="0">
                        <a:buNone/>
                      </a:pPr>
                      <a:r>
                        <a:rPr lang="en-US" sz="1300" b="1" dirty="0">
                          <a:solidFill>
                            <a:srgbClr val="FFFFFF"/>
                          </a:solidFill>
                        </a:rPr>
                        <a:t>Component</a:t>
                      </a:r>
                      <a:endParaRPr lang="en-US" sz="1300" dirty="0"/>
                    </a:p>
                  </a:txBody>
                  <a:tcPr marT="27432" marB="2743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2545"/>
                    </a:solidFill>
                  </a:tcPr>
                </a:tc>
                <a:tc>
                  <a:txBody>
                    <a:bodyPr/>
                    <a:lstStyle/>
                    <a:p>
                      <a:pPr marL="0" indent="0">
                        <a:buNone/>
                      </a:pPr>
                      <a:r>
                        <a:rPr lang="en-US" sz="1300" b="1" dirty="0">
                          <a:solidFill>
                            <a:srgbClr val="FFFFFF"/>
                          </a:solidFill>
                        </a:rPr>
                        <a:t>Selected technique</a:t>
                      </a:r>
                      <a:endParaRPr lang="en-US" sz="1300" dirty="0"/>
                    </a:p>
                  </a:txBody>
                  <a:tcPr marT="27432" marB="2743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393192">
                <a:tc>
                  <a:txBody>
                    <a:bodyPr/>
                    <a:lstStyle/>
                    <a:p>
                      <a:pPr marL="0" indent="0">
                        <a:buNone/>
                      </a:pPr>
                      <a:r>
                        <a:rPr lang="en-US" sz="1300" b="1" dirty="0">
                          <a:solidFill>
                            <a:srgbClr val="1B2A41"/>
                          </a:solidFill>
                        </a:rPr>
                        <a:t>Image classification</a:t>
                      </a:r>
                      <a:endParaRPr lang="en-US" sz="1300" dirty="0"/>
                    </a:p>
                  </a:txBody>
                  <a:tcPr marT="27432" marB="2743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300" dirty="0">
                          <a:solidFill>
                            <a:srgbClr val="1B2A41"/>
                          </a:solidFill>
                        </a:rPr>
                        <a:t>Convolutional Neural Network (CNN)</a:t>
                      </a:r>
                      <a:endParaRPr lang="en-US" sz="1300" dirty="0"/>
                    </a:p>
                  </a:txBody>
                  <a:tcPr marT="27432" marB="2743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3192">
                <a:tc>
                  <a:txBody>
                    <a:bodyPr/>
                    <a:lstStyle/>
                    <a:p>
                      <a:pPr marL="0" indent="0">
                        <a:buNone/>
                      </a:pPr>
                      <a:r>
                        <a:rPr lang="en-US" sz="1300" b="1" dirty="0">
                          <a:solidFill>
                            <a:srgbClr val="1B2A41"/>
                          </a:solidFill>
                        </a:rPr>
                        <a:t>Transfer learning</a:t>
                      </a:r>
                      <a:endParaRPr lang="en-US" sz="1300" dirty="0"/>
                    </a:p>
                  </a:txBody>
                  <a:tcPr marT="27432" marB="2743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AF4F6"/>
                    </a:solidFill>
                  </a:tcPr>
                </a:tc>
                <a:tc>
                  <a:txBody>
                    <a:bodyPr/>
                    <a:lstStyle/>
                    <a:p>
                      <a:pPr marL="0" indent="0">
                        <a:buNone/>
                      </a:pPr>
                      <a:r>
                        <a:rPr lang="en-US" sz="1300" dirty="0">
                          <a:solidFill>
                            <a:srgbClr val="1B2A41"/>
                          </a:solidFill>
                        </a:rPr>
                        <a:t>ResNet50</a:t>
                      </a:r>
                      <a:endParaRPr lang="en-US" sz="1300" dirty="0"/>
                    </a:p>
                  </a:txBody>
                  <a:tcPr marT="27432" marB="2743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AF4F6"/>
                    </a:solidFill>
                  </a:tcPr>
                </a:tc>
                <a:extLst>
                  <a:ext uri="{0D108BD9-81ED-4DB2-BD59-A6C34878D82A}">
                    <a16:rowId xmlns:a16="http://schemas.microsoft.com/office/drawing/2014/main" val="10002"/>
                  </a:ext>
                </a:extLst>
              </a:tr>
              <a:tr h="393192">
                <a:tc>
                  <a:txBody>
                    <a:bodyPr/>
                    <a:lstStyle/>
                    <a:p>
                      <a:pPr marL="0" indent="0">
                        <a:buNone/>
                      </a:pPr>
                      <a:r>
                        <a:rPr lang="en-US" sz="1300" b="1" dirty="0">
                          <a:solidFill>
                            <a:srgbClr val="1B2A41"/>
                          </a:solidFill>
                        </a:rPr>
                        <a:t>Loss function</a:t>
                      </a:r>
                      <a:endParaRPr lang="en-US" sz="1300" dirty="0"/>
                    </a:p>
                  </a:txBody>
                  <a:tcPr marT="27432" marB="2743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300" dirty="0">
                          <a:solidFill>
                            <a:srgbClr val="1B2A41"/>
                          </a:solidFill>
                        </a:rPr>
                        <a:t>Categorical Cross-Entropy</a:t>
                      </a:r>
                      <a:endParaRPr lang="en-US" sz="1300" dirty="0"/>
                    </a:p>
                  </a:txBody>
                  <a:tcPr marT="27432" marB="2743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93192">
                <a:tc>
                  <a:txBody>
                    <a:bodyPr/>
                    <a:lstStyle/>
                    <a:p>
                      <a:pPr marL="0" indent="0">
                        <a:buNone/>
                      </a:pPr>
                      <a:r>
                        <a:rPr lang="en-US" sz="1300" b="1" dirty="0">
                          <a:solidFill>
                            <a:srgbClr val="1B2A41"/>
                          </a:solidFill>
                        </a:rPr>
                        <a:t>Visual explanation</a:t>
                      </a:r>
                      <a:endParaRPr lang="en-US" sz="1300" dirty="0"/>
                    </a:p>
                  </a:txBody>
                  <a:tcPr marT="27432" marB="2743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AF4F6"/>
                    </a:solidFill>
                  </a:tcPr>
                </a:tc>
                <a:tc>
                  <a:txBody>
                    <a:bodyPr/>
                    <a:lstStyle/>
                    <a:p>
                      <a:pPr marL="0" indent="0">
                        <a:buNone/>
                      </a:pPr>
                      <a:r>
                        <a:rPr lang="en-US" sz="1300" dirty="0">
                          <a:solidFill>
                            <a:srgbClr val="1B2A41"/>
                          </a:solidFill>
                        </a:rPr>
                        <a:t>Grad-CAM</a:t>
                      </a:r>
                      <a:endParaRPr lang="en-US" sz="1300" dirty="0"/>
                    </a:p>
                  </a:txBody>
                  <a:tcPr marT="27432" marB="2743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AF4F6"/>
                    </a:solidFill>
                  </a:tcPr>
                </a:tc>
                <a:extLst>
                  <a:ext uri="{0D108BD9-81ED-4DB2-BD59-A6C34878D82A}">
                    <a16:rowId xmlns:a16="http://schemas.microsoft.com/office/drawing/2014/main" val="10006"/>
                  </a:ext>
                </a:extLst>
              </a:tr>
              <a:tr h="393192">
                <a:tc>
                  <a:txBody>
                    <a:bodyPr/>
                    <a:lstStyle/>
                    <a:p>
                      <a:pPr marL="0" indent="0">
                        <a:buNone/>
                      </a:pPr>
                      <a:r>
                        <a:rPr lang="en-US" sz="1300" b="1" dirty="0">
                          <a:solidFill>
                            <a:srgbClr val="1B2A41"/>
                          </a:solidFill>
                        </a:rPr>
                        <a:t>Feature contribution</a:t>
                      </a:r>
                      <a:endParaRPr lang="en-US" sz="1300" dirty="0"/>
                    </a:p>
                  </a:txBody>
                  <a:tcPr marT="27432" marB="2743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300" dirty="0">
                          <a:solidFill>
                            <a:srgbClr val="1B2A41"/>
                          </a:solidFill>
                        </a:rPr>
                        <a:t>SHAP</a:t>
                      </a:r>
                      <a:endParaRPr lang="en-US" sz="1300" dirty="0"/>
                    </a:p>
                  </a:txBody>
                  <a:tcPr marT="27432" marB="2743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93192">
                <a:tc>
                  <a:txBody>
                    <a:bodyPr/>
                    <a:lstStyle/>
                    <a:p>
                      <a:pPr marL="0" indent="0">
                        <a:buNone/>
                      </a:pPr>
                      <a:r>
                        <a:rPr lang="en-US" sz="1300" b="1" dirty="0">
                          <a:solidFill>
                            <a:srgbClr val="1B2A41"/>
                          </a:solidFill>
                        </a:rPr>
                        <a:t>Evaluation</a:t>
                      </a:r>
                      <a:endParaRPr lang="en-US" sz="1300" dirty="0"/>
                    </a:p>
                  </a:txBody>
                  <a:tcPr marT="27432" marB="2743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300" dirty="0">
                          <a:solidFill>
                            <a:srgbClr val="1B2A41"/>
                          </a:solidFill>
                        </a:rPr>
                        <a:t>Accuracy, Precision, Recall, F1-score</a:t>
                      </a:r>
                      <a:endParaRPr lang="en-US" sz="1300" dirty="0"/>
                    </a:p>
                  </a:txBody>
                  <a:tcPr marT="27432" marB="2743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93192">
                <a:tc>
                  <a:txBody>
                    <a:bodyPr/>
                    <a:lstStyle/>
                    <a:p>
                      <a:pPr marL="0" indent="0">
                        <a:buNone/>
                      </a:pPr>
                      <a:r>
                        <a:rPr lang="en-US" sz="1300" b="1" dirty="0">
                          <a:solidFill>
                            <a:srgbClr val="1B2A41"/>
                          </a:solidFill>
                        </a:rPr>
                        <a:t>Visualization</a:t>
                      </a:r>
                      <a:endParaRPr lang="en-US" sz="1300" dirty="0"/>
                    </a:p>
                  </a:txBody>
                  <a:tcPr marT="27432" marB="2743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AF4F6"/>
                    </a:solidFill>
                  </a:tcPr>
                </a:tc>
                <a:tc>
                  <a:txBody>
                    <a:bodyPr/>
                    <a:lstStyle/>
                    <a:p>
                      <a:pPr marL="0" indent="0">
                        <a:buNone/>
                      </a:pPr>
                      <a:r>
                        <a:rPr lang="en-US" sz="1300" dirty="0">
                          <a:solidFill>
                            <a:srgbClr val="1B2A41"/>
                          </a:solidFill>
                        </a:rPr>
                        <a:t>Confusion Matrix</a:t>
                      </a:r>
                      <a:endParaRPr lang="en-US" sz="1300" dirty="0"/>
                    </a:p>
                  </a:txBody>
                  <a:tcPr marT="27432" marB="2743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AF4F6"/>
                    </a:solidFill>
                  </a:tcPr>
                </a:tc>
                <a:extLst>
                  <a:ext uri="{0D108BD9-81ED-4DB2-BD59-A6C34878D82A}">
                    <a16:rowId xmlns:a16="http://schemas.microsoft.com/office/drawing/2014/main" val="10010"/>
                  </a:ext>
                </a:extLst>
              </a:tr>
            </a:tbl>
          </a:graphicData>
        </a:graphic>
      </p:graphicFrame>
      <p:sp>
        <p:nvSpPr>
          <p:cNvPr id="5" name="Text 2"/>
          <p:cNvSpPr txBox="1"/>
          <p:nvPr/>
        </p:nvSpPr>
        <p:spPr>
          <a:xfrm>
            <a:off x="6309360" y="1280160"/>
            <a:ext cx="5330952" cy="365760"/>
          </a:xfrm>
          <a:prstGeom prst="rect">
            <a:avLst/>
          </a:prstGeom>
          <a:noFill/>
          <a:ln/>
        </p:spPr>
        <p:txBody>
          <a:bodyPr wrap="square" lIns="0" tIns="0" rIns="0" bIns="0" rtlCol="0" anchor="ctr"/>
          <a:lstStyle/>
          <a:p>
            <a:pPr marL="0" indent="0">
              <a:buNone/>
            </a:pPr>
            <a:r>
              <a:rPr lang="en-US" sz="1800" b="1" dirty="0">
                <a:solidFill>
                  <a:schemeClr val="accent1"/>
                </a:solidFill>
              </a:rPr>
              <a:t>Technology Stack</a:t>
            </a:r>
            <a:endParaRPr lang="en-US" sz="1800" dirty="0"/>
          </a:p>
        </p:txBody>
      </p:sp>
      <p:graphicFrame>
        <p:nvGraphicFramePr>
          <p:cNvPr id="19" name="Technology table"/>
          <p:cNvGraphicFramePr>
            <a:graphicFrameLocks noGrp="1"/>
          </p:cNvGraphicFramePr>
          <p:nvPr>
            <p:extLst>
              <p:ext uri="{D42A27DB-BD31-4B8C-83A1-F6EECF244321}">
                <p14:modId xmlns:p14="http://schemas.microsoft.com/office/powerpoint/2010/main" val="2584123531"/>
              </p:ext>
            </p:extLst>
          </p:nvPr>
        </p:nvGraphicFramePr>
        <p:xfrm>
          <a:off x="6309360" y="1737360"/>
          <a:ext cx="5330952" cy="3538728"/>
        </p:xfrm>
        <a:graphic>
          <a:graphicData uri="http://schemas.openxmlformats.org/drawingml/2006/table">
            <a:tbl>
              <a:tblPr/>
              <a:tblGrid>
                <a:gridCol w="2514600">
                  <a:extLst>
                    <a:ext uri="{9D8B030D-6E8A-4147-A177-3AD203B41FA5}">
                      <a16:colId xmlns:a16="http://schemas.microsoft.com/office/drawing/2014/main" val="20000"/>
                    </a:ext>
                  </a:extLst>
                </a:gridCol>
                <a:gridCol w="2816352">
                  <a:extLst>
                    <a:ext uri="{9D8B030D-6E8A-4147-A177-3AD203B41FA5}">
                      <a16:colId xmlns:a16="http://schemas.microsoft.com/office/drawing/2014/main" val="20001"/>
                    </a:ext>
                  </a:extLst>
                </a:gridCol>
              </a:tblGrid>
              <a:tr h="393192">
                <a:tc>
                  <a:txBody>
                    <a:bodyPr/>
                    <a:lstStyle/>
                    <a:p>
                      <a:pPr marL="0" indent="0">
                        <a:buNone/>
                      </a:pPr>
                      <a:r>
                        <a:rPr lang="en-US" sz="1300" b="1" dirty="0">
                          <a:solidFill>
                            <a:srgbClr val="FFFFFF"/>
                          </a:solidFill>
                        </a:rPr>
                        <a:t>Component</a:t>
                      </a:r>
                      <a:endParaRPr lang="en-US" sz="1300" dirty="0"/>
                    </a:p>
                  </a:txBody>
                  <a:tcPr marT="27432" marB="2743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2545"/>
                    </a:solidFill>
                  </a:tcPr>
                </a:tc>
                <a:tc>
                  <a:txBody>
                    <a:bodyPr/>
                    <a:lstStyle/>
                    <a:p>
                      <a:pPr marL="0" indent="0">
                        <a:buNone/>
                      </a:pPr>
                      <a:r>
                        <a:rPr lang="en-US" sz="1300" b="1" dirty="0">
                          <a:solidFill>
                            <a:srgbClr val="FFFFFF"/>
                          </a:solidFill>
                        </a:rPr>
                        <a:t>Technology</a:t>
                      </a:r>
                      <a:endParaRPr lang="en-US" sz="1300" dirty="0"/>
                    </a:p>
                  </a:txBody>
                  <a:tcPr marT="27432" marB="2743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393192">
                <a:tc>
                  <a:txBody>
                    <a:bodyPr/>
                    <a:lstStyle/>
                    <a:p>
                      <a:pPr marL="0" indent="0">
                        <a:buNone/>
                      </a:pPr>
                      <a:r>
                        <a:rPr lang="en-US" sz="1300" b="1" dirty="0">
                          <a:solidFill>
                            <a:srgbClr val="1B2A41"/>
                          </a:solidFill>
                        </a:rPr>
                        <a:t>Programming language</a:t>
                      </a:r>
                      <a:endParaRPr lang="en-US" sz="1300" dirty="0"/>
                    </a:p>
                  </a:txBody>
                  <a:tcPr marT="27432" marB="2743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300" dirty="0">
                          <a:solidFill>
                            <a:srgbClr val="1B2A41"/>
                          </a:solidFill>
                        </a:rPr>
                        <a:t>Python</a:t>
                      </a:r>
                      <a:endParaRPr lang="en-US" sz="1300" dirty="0"/>
                    </a:p>
                  </a:txBody>
                  <a:tcPr marT="27432" marB="2743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3192">
                <a:tc>
                  <a:txBody>
                    <a:bodyPr/>
                    <a:lstStyle/>
                    <a:p>
                      <a:pPr marL="0" indent="0">
                        <a:buNone/>
                      </a:pPr>
                      <a:r>
                        <a:rPr lang="en-US" sz="1300" b="1" dirty="0">
                          <a:solidFill>
                            <a:srgbClr val="1B2A41"/>
                          </a:solidFill>
                        </a:rPr>
                        <a:t>Development environment</a:t>
                      </a:r>
                      <a:endParaRPr lang="en-US" sz="1300" dirty="0"/>
                    </a:p>
                  </a:txBody>
                  <a:tcPr marT="27432" marB="2743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AF4F6"/>
                    </a:solidFill>
                  </a:tcPr>
                </a:tc>
                <a:tc>
                  <a:txBody>
                    <a:bodyPr/>
                    <a:lstStyle/>
                    <a:p>
                      <a:pPr marL="0" indent="0">
                        <a:buNone/>
                      </a:pPr>
                      <a:r>
                        <a:rPr lang="en-US" sz="1300" dirty="0">
                          <a:solidFill>
                            <a:srgbClr val="1B2A41"/>
                          </a:solidFill>
                        </a:rPr>
                        <a:t>VS Code</a:t>
                      </a:r>
                      <a:endParaRPr lang="en-US" sz="1300" dirty="0"/>
                    </a:p>
                  </a:txBody>
                  <a:tcPr marT="27432" marB="2743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AF4F6"/>
                    </a:solidFill>
                  </a:tcPr>
                </a:tc>
                <a:extLst>
                  <a:ext uri="{0D108BD9-81ED-4DB2-BD59-A6C34878D82A}">
                    <a16:rowId xmlns:a16="http://schemas.microsoft.com/office/drawing/2014/main" val="10002"/>
                  </a:ext>
                </a:extLst>
              </a:tr>
              <a:tr h="393192">
                <a:tc>
                  <a:txBody>
                    <a:bodyPr/>
                    <a:lstStyle/>
                    <a:p>
                      <a:pPr marL="0" indent="0">
                        <a:buNone/>
                      </a:pPr>
                      <a:r>
                        <a:rPr lang="en-US" sz="1300" b="1" dirty="0">
                          <a:solidFill>
                            <a:srgbClr val="1B2A41"/>
                          </a:solidFill>
                        </a:rPr>
                        <a:t>Deep learning framework</a:t>
                      </a:r>
                      <a:endParaRPr lang="en-US" sz="1300" dirty="0"/>
                    </a:p>
                  </a:txBody>
                  <a:tcPr marT="27432" marB="2743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300" dirty="0">
                          <a:solidFill>
                            <a:srgbClr val="1B2A41"/>
                          </a:solidFill>
                        </a:rPr>
                        <a:t>TensorFlow / Keras</a:t>
                      </a:r>
                      <a:endParaRPr lang="en-US" sz="1300" dirty="0"/>
                    </a:p>
                  </a:txBody>
                  <a:tcPr marT="27432" marB="2743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93192">
                <a:tc>
                  <a:txBody>
                    <a:bodyPr/>
                    <a:lstStyle/>
                    <a:p>
                      <a:pPr marL="0" indent="0">
                        <a:buNone/>
                      </a:pPr>
                      <a:r>
                        <a:rPr lang="en-US" sz="1300" b="1" dirty="0">
                          <a:solidFill>
                            <a:srgbClr val="1B2A41"/>
                          </a:solidFill>
                        </a:rPr>
                        <a:t>Image processing</a:t>
                      </a:r>
                      <a:endParaRPr lang="en-US" sz="1300" dirty="0"/>
                    </a:p>
                  </a:txBody>
                  <a:tcPr marT="27432" marB="2743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AF4F6"/>
                    </a:solidFill>
                  </a:tcPr>
                </a:tc>
                <a:tc>
                  <a:txBody>
                    <a:bodyPr/>
                    <a:lstStyle/>
                    <a:p>
                      <a:pPr marL="0" indent="0">
                        <a:buNone/>
                      </a:pPr>
                      <a:r>
                        <a:rPr lang="en-US" sz="1300" dirty="0">
                          <a:solidFill>
                            <a:srgbClr val="1B2A41"/>
                          </a:solidFill>
                        </a:rPr>
                        <a:t>OpenCV, Pillow</a:t>
                      </a:r>
                      <a:endParaRPr lang="en-US" sz="1300" dirty="0"/>
                    </a:p>
                  </a:txBody>
                  <a:tcPr marT="27432" marB="2743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AF4F6"/>
                    </a:solidFill>
                  </a:tcPr>
                </a:tc>
                <a:extLst>
                  <a:ext uri="{0D108BD9-81ED-4DB2-BD59-A6C34878D82A}">
                    <a16:rowId xmlns:a16="http://schemas.microsoft.com/office/drawing/2014/main" val="10004"/>
                  </a:ext>
                </a:extLst>
              </a:tr>
              <a:tr h="393192">
                <a:tc>
                  <a:txBody>
                    <a:bodyPr/>
                    <a:lstStyle/>
                    <a:p>
                      <a:pPr marL="0" indent="0">
                        <a:buNone/>
                      </a:pPr>
                      <a:r>
                        <a:rPr lang="en-US" sz="1300" b="1" dirty="0">
                          <a:solidFill>
                            <a:srgbClr val="1B2A41"/>
                          </a:solidFill>
                        </a:rPr>
                        <a:t>Machine learning</a:t>
                      </a:r>
                      <a:endParaRPr lang="en-US" sz="1300" dirty="0"/>
                    </a:p>
                  </a:txBody>
                  <a:tcPr marT="27432" marB="2743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300" dirty="0">
                          <a:solidFill>
                            <a:srgbClr val="1B2A41"/>
                          </a:solidFill>
                        </a:rPr>
                        <a:t>Scikit-learn</a:t>
                      </a:r>
                      <a:endParaRPr lang="en-US" sz="1300" dirty="0"/>
                    </a:p>
                  </a:txBody>
                  <a:tcPr marT="27432" marB="2743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93192">
                <a:tc>
                  <a:txBody>
                    <a:bodyPr/>
                    <a:lstStyle/>
                    <a:p>
                      <a:pPr marL="0" indent="0">
                        <a:buNone/>
                      </a:pPr>
                      <a:r>
                        <a:rPr lang="en-US" sz="1300" b="1" dirty="0">
                          <a:solidFill>
                            <a:srgbClr val="1B2A41"/>
                          </a:solidFill>
                        </a:rPr>
                        <a:t>Explainable AI</a:t>
                      </a:r>
                      <a:endParaRPr lang="en-US" sz="1300" dirty="0"/>
                    </a:p>
                  </a:txBody>
                  <a:tcPr marT="27432" marB="2743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AF4F6"/>
                    </a:solidFill>
                  </a:tcPr>
                </a:tc>
                <a:tc>
                  <a:txBody>
                    <a:bodyPr/>
                    <a:lstStyle/>
                    <a:p>
                      <a:pPr marL="0" indent="0">
                        <a:buNone/>
                      </a:pPr>
                      <a:r>
                        <a:rPr lang="en-US" sz="1300" dirty="0">
                          <a:solidFill>
                            <a:srgbClr val="1B2A41"/>
                          </a:solidFill>
                        </a:rPr>
                        <a:t>SHAP, Grad-CAM, LIME</a:t>
                      </a:r>
                      <a:endParaRPr lang="en-US" sz="1300" dirty="0"/>
                    </a:p>
                  </a:txBody>
                  <a:tcPr marT="27432" marB="2743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AF4F6"/>
                    </a:solidFill>
                  </a:tcPr>
                </a:tc>
                <a:extLst>
                  <a:ext uri="{0D108BD9-81ED-4DB2-BD59-A6C34878D82A}">
                    <a16:rowId xmlns:a16="http://schemas.microsoft.com/office/drawing/2014/main" val="10006"/>
                  </a:ext>
                </a:extLst>
              </a:tr>
              <a:tr h="393192">
                <a:tc>
                  <a:txBody>
                    <a:bodyPr/>
                    <a:lstStyle/>
                    <a:p>
                      <a:pPr marL="0" indent="0">
                        <a:buNone/>
                      </a:pPr>
                      <a:r>
                        <a:rPr lang="en-US" sz="1300" b="1" dirty="0">
                          <a:solidFill>
                            <a:srgbClr val="1B2A41"/>
                          </a:solidFill>
                        </a:rPr>
                        <a:t>Web application</a:t>
                      </a:r>
                      <a:endParaRPr lang="en-US" sz="1300" dirty="0"/>
                    </a:p>
                  </a:txBody>
                  <a:tcPr marT="27432" marB="2743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AF4F6"/>
                    </a:solidFill>
                  </a:tcPr>
                </a:tc>
                <a:tc>
                  <a:txBody>
                    <a:bodyPr/>
                    <a:lstStyle/>
                    <a:p>
                      <a:pPr marL="0" indent="0">
                        <a:buNone/>
                      </a:pPr>
                      <a:r>
                        <a:rPr lang="en-US" sz="1300" dirty="0">
                          <a:solidFill>
                            <a:srgbClr val="1B2A41"/>
                          </a:solidFill>
                        </a:rPr>
                        <a:t>Streamlit</a:t>
                      </a:r>
                      <a:endParaRPr lang="en-US" sz="1300" dirty="0"/>
                    </a:p>
                  </a:txBody>
                  <a:tcPr marT="27432" marB="2743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EAF4F6"/>
                    </a:solidFill>
                  </a:tcPr>
                </a:tc>
                <a:extLst>
                  <a:ext uri="{0D108BD9-81ED-4DB2-BD59-A6C34878D82A}">
                    <a16:rowId xmlns:a16="http://schemas.microsoft.com/office/drawing/2014/main" val="10008"/>
                  </a:ext>
                </a:extLst>
              </a:tr>
              <a:tr h="393192">
                <a:tc>
                  <a:txBody>
                    <a:bodyPr/>
                    <a:lstStyle/>
                    <a:p>
                      <a:pPr marL="0" indent="0">
                        <a:buNone/>
                      </a:pPr>
                      <a:r>
                        <a:rPr lang="en-US" sz="1300" b="1" dirty="0">
                          <a:solidFill>
                            <a:srgbClr val="1B2A41"/>
                          </a:solidFill>
                        </a:rPr>
                        <a:t>Dataset</a:t>
                      </a:r>
                      <a:endParaRPr lang="en-US" sz="1300" dirty="0"/>
                    </a:p>
                  </a:txBody>
                  <a:tcPr marT="27432" marB="2743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tc>
                  <a:txBody>
                    <a:bodyPr/>
                    <a:lstStyle/>
                    <a:p>
                      <a:pPr marL="0" indent="0">
                        <a:buNone/>
                      </a:pPr>
                      <a:r>
                        <a:rPr lang="en-US" sz="1300" dirty="0">
                          <a:solidFill>
                            <a:srgbClr val="1B2A41"/>
                          </a:solidFill>
                        </a:rPr>
                        <a:t>Public medical image datasets(Kaggle)</a:t>
                      </a:r>
                      <a:endParaRPr lang="en-US" sz="1300" dirty="0"/>
                    </a:p>
                  </a:txBody>
                  <a:tcPr marT="27432" marB="27432" anchor="ctr">
                    <a:lnL w="9525" cap="flat" cmpd="sng" algn="ctr">
                      <a:solidFill>
                        <a:srgbClr val="C9D6E2"/>
                      </a:solidFill>
                      <a:prstDash val="solid"/>
                      <a:round/>
                      <a:headEnd type="none" w="med" len="med"/>
                      <a:tailEnd type="none" w="med" len="med"/>
                    </a:lnL>
                    <a:lnR w="9525" cap="flat" cmpd="sng" algn="ctr">
                      <a:solidFill>
                        <a:srgbClr val="C9D6E2"/>
                      </a:solidFill>
                      <a:prstDash val="solid"/>
                      <a:round/>
                      <a:headEnd type="none" w="med" len="med"/>
                      <a:tailEnd type="none" w="med" len="med"/>
                    </a:lnR>
                    <a:lnT w="9525" cap="flat" cmpd="sng" algn="ctr">
                      <a:solidFill>
                        <a:srgbClr val="C9D6E2"/>
                      </a:solidFill>
                      <a:prstDash val="solid"/>
                      <a:round/>
                      <a:headEnd type="none" w="med" len="med"/>
                      <a:tailEnd type="none" w="med" len="med"/>
                    </a:lnT>
                    <a:lnB w="9525" cap="flat" cmpd="sng" algn="ctr">
                      <a:solidFill>
                        <a:srgbClr val="C9D6E2"/>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25" name="Slide Number Placeholder 0"/>
          <p:cNvSpPr>
            <a:spLocks noGrp="1"/>
          </p:cNvSpPr>
          <p:nvPr>
            <p:ph type="sldNum" sz="quarter" idx="4294967295"/>
          </p:nvPr>
        </p:nvSpPr>
        <p:spPr>
          <a:xfrm>
            <a:off x="10972800" y="6382512"/>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777240"/>
          </a:xfrm>
          <a:prstGeom prst="rect">
            <a:avLst/>
          </a:prstGeom>
          <a:noFill/>
          <a:ln/>
        </p:spPr>
        <p:txBody>
          <a:bodyPr wrap="square" lIns="0" tIns="0" rIns="0" bIns="0" rtlCol="0" anchor="ctr"/>
          <a:lstStyle/>
          <a:p>
            <a:pPr marL="0" indent="0">
              <a:buNone/>
            </a:pPr>
            <a:r>
              <a:rPr lang="en-US" sz="3200" b="1" dirty="0">
                <a:solidFill>
                  <a:schemeClr val="bg1"/>
                </a:solidFill>
              </a:rPr>
              <a:t>Conclusion</a:t>
            </a:r>
            <a:endParaRPr lang="en-US" sz="3200" dirty="0"/>
          </a:p>
        </p:txBody>
      </p:sp>
      <p:sp>
        <p:nvSpPr>
          <p:cNvPr id="3" name="Conclusion row 1"/>
          <p:cNvSpPr/>
          <p:nvPr/>
        </p:nvSpPr>
        <p:spPr>
          <a:xfrm>
            <a:off x="548640" y="1371600"/>
            <a:ext cx="6858000" cy="1005840"/>
          </a:xfrm>
          <a:prstGeom prst="roundRect">
            <a:avLst>
              <a:gd name="adj" fmla="val 9091"/>
            </a:avLst>
          </a:prstGeom>
          <a:solidFill>
            <a:schemeClr val="accent4">
              <a:alpha val="35000"/>
            </a:schemeClr>
          </a:solidFill>
          <a:ln/>
        </p:spPr>
        <p:txBody>
          <a:bodyPr/>
          <a:lstStyle/>
          <a:p>
            <a:endParaRPr lang="en-IN"/>
          </a:p>
        </p:txBody>
      </p:sp>
      <p:sp>
        <p:nvSpPr>
          <p:cNvPr id="4" name="Conclusion number 1"/>
          <p:cNvSpPr txBox="1"/>
          <p:nvPr/>
        </p:nvSpPr>
        <p:spPr>
          <a:xfrm>
            <a:off x="777240" y="1618488"/>
            <a:ext cx="512064" cy="512064"/>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5" name="Text 3"/>
          <p:cNvSpPr txBox="1"/>
          <p:nvPr/>
        </p:nvSpPr>
        <p:spPr>
          <a:xfrm>
            <a:off x="1508760" y="1371600"/>
            <a:ext cx="5760720" cy="1005840"/>
          </a:xfrm>
          <a:prstGeom prst="rect">
            <a:avLst/>
          </a:prstGeom>
          <a:noFill/>
          <a:ln/>
        </p:spPr>
        <p:txBody>
          <a:bodyPr wrap="square" lIns="0" tIns="0" rIns="0" bIns="0" rtlCol="0" anchor="ctr"/>
          <a:lstStyle/>
          <a:p>
            <a:pPr marL="0" indent="0">
              <a:buNone/>
            </a:pPr>
            <a:r>
              <a:rPr lang="en-US" sz="1500" dirty="0">
                <a:solidFill>
                  <a:schemeClr val="bg1"/>
                </a:solidFill>
              </a:rPr>
              <a:t>Deep learning can support medical image classification, but its predictions may be difficult to interpret.</a:t>
            </a:r>
            <a:endParaRPr lang="en-US" sz="1500" dirty="0"/>
          </a:p>
        </p:txBody>
      </p:sp>
      <p:sp>
        <p:nvSpPr>
          <p:cNvPr id="6" name="Conclusion row 2"/>
          <p:cNvSpPr/>
          <p:nvPr/>
        </p:nvSpPr>
        <p:spPr>
          <a:xfrm>
            <a:off x="548640" y="2542032"/>
            <a:ext cx="6858000" cy="1005840"/>
          </a:xfrm>
          <a:prstGeom prst="roundRect">
            <a:avLst>
              <a:gd name="adj" fmla="val 9091"/>
            </a:avLst>
          </a:prstGeom>
          <a:solidFill>
            <a:schemeClr val="accent4">
              <a:alpha val="35000"/>
            </a:schemeClr>
          </a:solidFill>
          <a:ln/>
        </p:spPr>
        <p:txBody>
          <a:bodyPr/>
          <a:lstStyle/>
          <a:p>
            <a:endParaRPr lang="en-IN"/>
          </a:p>
        </p:txBody>
      </p:sp>
      <p:sp>
        <p:nvSpPr>
          <p:cNvPr id="7" name="Conclusion number 2"/>
          <p:cNvSpPr txBox="1"/>
          <p:nvPr/>
        </p:nvSpPr>
        <p:spPr>
          <a:xfrm>
            <a:off x="777240" y="2788920"/>
            <a:ext cx="512064" cy="512064"/>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8" name="Text 6"/>
          <p:cNvSpPr txBox="1"/>
          <p:nvPr/>
        </p:nvSpPr>
        <p:spPr>
          <a:xfrm>
            <a:off x="1508760" y="2542032"/>
            <a:ext cx="5760720" cy="1005840"/>
          </a:xfrm>
          <a:prstGeom prst="rect">
            <a:avLst/>
          </a:prstGeom>
          <a:noFill/>
          <a:ln/>
        </p:spPr>
        <p:txBody>
          <a:bodyPr wrap="square" lIns="0" tIns="0" rIns="0" bIns="0" rtlCol="0" anchor="ctr"/>
          <a:lstStyle/>
          <a:p>
            <a:pPr marL="0" indent="0">
              <a:buNone/>
            </a:pPr>
            <a:r>
              <a:rPr lang="en-US" sz="1500" dirty="0">
                <a:solidFill>
                  <a:schemeClr val="bg1"/>
                </a:solidFill>
              </a:rPr>
              <a:t>The proposed framework combines transfer learning with Grad-CAM and SHAP.</a:t>
            </a:r>
            <a:endParaRPr lang="en-US" sz="1500" dirty="0"/>
          </a:p>
        </p:txBody>
      </p:sp>
      <p:sp>
        <p:nvSpPr>
          <p:cNvPr id="12" name="Conclusion row 4"/>
          <p:cNvSpPr/>
          <p:nvPr/>
        </p:nvSpPr>
        <p:spPr>
          <a:xfrm>
            <a:off x="548640" y="3877056"/>
            <a:ext cx="6858000" cy="1005840"/>
          </a:xfrm>
          <a:prstGeom prst="roundRect">
            <a:avLst>
              <a:gd name="adj" fmla="val 9091"/>
            </a:avLst>
          </a:prstGeom>
          <a:solidFill>
            <a:schemeClr val="accent4">
              <a:alpha val="35000"/>
            </a:schemeClr>
          </a:solidFill>
          <a:ln/>
        </p:spPr>
        <p:txBody>
          <a:bodyPr/>
          <a:lstStyle/>
          <a:p>
            <a:endParaRPr lang="en-IN"/>
          </a:p>
        </p:txBody>
      </p:sp>
      <p:sp>
        <p:nvSpPr>
          <p:cNvPr id="13" name="Conclusion number 4"/>
          <p:cNvSpPr txBox="1"/>
          <p:nvPr/>
        </p:nvSpPr>
        <p:spPr>
          <a:xfrm>
            <a:off x="777240" y="4123944"/>
            <a:ext cx="512064" cy="512064"/>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4" name="Text 12"/>
          <p:cNvSpPr txBox="1"/>
          <p:nvPr/>
        </p:nvSpPr>
        <p:spPr>
          <a:xfrm>
            <a:off x="1508760" y="3877056"/>
            <a:ext cx="5760720" cy="1005840"/>
          </a:xfrm>
          <a:prstGeom prst="rect">
            <a:avLst/>
          </a:prstGeom>
          <a:noFill/>
          <a:ln/>
        </p:spPr>
        <p:txBody>
          <a:bodyPr wrap="square" lIns="0" tIns="0" rIns="0" bIns="0" rtlCol="0" anchor="ctr"/>
          <a:lstStyle/>
          <a:p>
            <a:pPr marL="0" indent="0">
              <a:buNone/>
            </a:pPr>
            <a:r>
              <a:rPr lang="en-US" sz="1500" dirty="0">
                <a:solidFill>
                  <a:schemeClr val="bg1"/>
                </a:solidFill>
              </a:rPr>
              <a:t>Quantitative evaluation and visual explanations will be presented through an interactive Streamlit application.</a:t>
            </a:r>
            <a:endParaRPr lang="en-US" sz="1500" dirty="0"/>
          </a:p>
        </p:txBody>
      </p:sp>
      <p:sp>
        <p:nvSpPr>
          <p:cNvPr id="15" name="Thank you panel"/>
          <p:cNvSpPr/>
          <p:nvPr/>
        </p:nvSpPr>
        <p:spPr>
          <a:xfrm>
            <a:off x="7772400" y="1371600"/>
            <a:ext cx="3867912" cy="4443984"/>
          </a:xfrm>
          <a:prstGeom prst="roundRect">
            <a:avLst>
              <a:gd name="adj" fmla="val 2364"/>
            </a:avLst>
          </a:prstGeom>
          <a:solidFill>
            <a:schemeClr val="accent4">
              <a:alpha val="35000"/>
            </a:schemeClr>
          </a:solidFill>
          <a:ln/>
        </p:spPr>
        <p:txBody>
          <a:bodyPr/>
          <a:lstStyle/>
          <a:p>
            <a:endParaRPr lang="en-IN"/>
          </a:p>
        </p:txBody>
      </p:sp>
      <p:sp>
        <p:nvSpPr>
          <p:cNvPr id="16" name="Conclusion circle"/>
          <p:cNvSpPr/>
          <p:nvPr/>
        </p:nvSpPr>
        <p:spPr>
          <a:xfrm>
            <a:off x="9144000" y="2286000"/>
            <a:ext cx="1124712" cy="1124712"/>
          </a:xfrm>
          <a:prstGeom prst="ellipse">
            <a:avLst/>
          </a:prstGeom>
          <a:solidFill>
            <a:schemeClr val="accent1"/>
          </a:solidFill>
          <a:ln/>
        </p:spPr>
        <p:txBody>
          <a:bodyPr/>
          <a:lstStyle/>
          <a:p>
            <a:endParaRPr lang="en-IN"/>
          </a:p>
        </p:txBody>
      </p:sp>
      <p:pic>
        <p:nvPicPr>
          <p:cNvPr id="17" name="Conclusion icon" descr="Conclusion"/>
          <p:cNvPicPr>
            <a:picLocks noChangeAspect="1"/>
          </p:cNvPicPr>
          <p:nvPr/>
        </p:nvPicPr>
        <p:blipFill>
          <a:blip r:embed="rId3"/>
          <a:stretch>
            <a:fillRect/>
          </a:stretch>
        </p:blipFill>
        <p:spPr>
          <a:xfrm>
            <a:off x="9425178" y="2567178"/>
            <a:ext cx="562356" cy="562356"/>
          </a:xfrm>
          <a:prstGeom prst="rect">
            <a:avLst/>
          </a:prstGeom>
        </p:spPr>
      </p:pic>
      <p:sp>
        <p:nvSpPr>
          <p:cNvPr id="18" name="Text 15"/>
          <p:cNvSpPr txBox="1"/>
          <p:nvPr/>
        </p:nvSpPr>
        <p:spPr>
          <a:xfrm>
            <a:off x="7955280" y="3657600"/>
            <a:ext cx="3502152" cy="822960"/>
          </a:xfrm>
          <a:prstGeom prst="rect">
            <a:avLst/>
          </a:prstGeom>
          <a:noFill/>
          <a:ln/>
        </p:spPr>
        <p:txBody>
          <a:bodyPr wrap="square" lIns="0" tIns="0" rIns="0" bIns="0" rtlCol="0" anchor="ctr"/>
          <a:lstStyle/>
          <a:p>
            <a:pPr marL="0" indent="0" algn="ctr">
              <a:buNone/>
            </a:pPr>
            <a:r>
              <a:rPr lang="en-US" sz="4000" b="1" dirty="0">
                <a:solidFill>
                  <a:schemeClr val="bg1"/>
                </a:solidFill>
                <a:latin typeface="Cambria" pitchFamily="34" charset="0"/>
                <a:ea typeface="Cambria" pitchFamily="34" charset="-122"/>
                <a:cs typeface="Cambria" pitchFamily="34" charset="-120"/>
              </a:rPr>
              <a:t>Thank You</a:t>
            </a:r>
            <a:endParaRPr lang="en-US" sz="4000" dirty="0"/>
          </a:p>
        </p:txBody>
      </p:sp>
      <p:sp>
        <p:nvSpPr>
          <p:cNvPr id="25" name="Slide Number Placeholder 0"/>
          <p:cNvSpPr>
            <a:spLocks noGrp="1"/>
          </p:cNvSpPr>
          <p:nvPr>
            <p:ph type="sldNum" sz="quarter" idx="4294967295"/>
          </p:nvPr>
        </p:nvSpPr>
        <p:spPr>
          <a:xfrm>
            <a:off x="10972800" y="6382512"/>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Medical AI Academic">
  <a:themeElements>
    <a:clrScheme name="Medical AI Academic">
      <a:dk1>
        <a:srgbClr val="1B2A41"/>
      </a:dk1>
      <a:lt1>
        <a:srgbClr val="FFFFFF"/>
      </a:lt1>
      <a:dk2>
        <a:srgbClr val="0B2545"/>
      </a:dk2>
      <a:lt2>
        <a:srgbClr val="EAF4F6"/>
      </a:lt2>
      <a:accent1>
        <a:srgbClr val="0E8F9C"/>
      </a:accent1>
      <a:accent2>
        <a:srgbClr val="0B2545"/>
      </a:accent2>
      <a:accent3>
        <a:srgbClr val="7FD6D0"/>
      </a:accent3>
      <a:accent4>
        <a:srgbClr val="3A6EA5"/>
      </a:accent4>
      <a:accent5>
        <a:srgbClr val="6B7C93"/>
      </a:accent5>
      <a:accent6>
        <a:srgbClr val="C9D6E2"/>
      </a:accent6>
      <a:hlink>
        <a:srgbClr val="0E8F9C"/>
      </a:hlink>
      <a:folHlink>
        <a:srgbClr val="6B7C93"/>
      </a:folHlink>
    </a:clrScheme>
    <a:fontScheme name="Medical AI Academic">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393</TotalTime>
  <Words>1937</Words>
  <Application>Microsoft Office PowerPoint</Application>
  <PresentationFormat>Widescreen</PresentationFormat>
  <Paragraphs>208</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Medical AI Academic</vt:lpstr>
      <vt:lpstr>Explainable Medical Image Diagnosis Using Transfer Learning, Grad-CAM and SHAP</vt:lpstr>
      <vt:lpstr>Problem Definition</vt:lpstr>
      <vt:lpstr>Objectives</vt:lpstr>
      <vt:lpstr>Existing System and Literature Survey</vt:lpstr>
      <vt:lpstr>Research Gaps and Proposed Solution</vt:lpstr>
      <vt:lpstr>Requirements Specification</vt:lpstr>
      <vt:lpstr>High-Level Design</vt:lpstr>
      <vt:lpstr>Low-Level Design and Methodology</vt:lpstr>
      <vt:lpstr>Algorithms and Technology Stack</vt:lpstr>
      <vt:lpstr>Conclusion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Explainable Medical Image Diagnosis Using Transfer Learning, Grad-CAM and SHAP</dc:title>
  <dc:subject>PptxGenJS Presentation</dc:subject>
  <dc:creator>PptxGenJS</dc:creator>
  <cp:lastModifiedBy>Girish Nayak</cp:lastModifiedBy>
  <cp:revision>17</cp:revision>
  <dcterms:created xsi:type="dcterms:W3CDTF">2026-10-19T15:58:37Z</dcterms:created>
  <dcterms:modified xsi:type="dcterms:W3CDTF">2026-10-22T10:32:00Z</dcterms:modified>
</cp:coreProperties>
</file>